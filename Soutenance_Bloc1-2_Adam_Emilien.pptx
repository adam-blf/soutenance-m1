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Adam-Blf/urban-data-explorer" TargetMode="External"/><Relationship Id="rId4" Type="http://schemas.openxmlformats.org/officeDocument/2006/relationships/hyperlink" Target="file:///C:/Users/adamb/soutenance-m1/assets/launch/ude_launch.pyw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ude_launch.pyw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file:///C:/Users/adamb/soutenance-m1/assets/launch/ude_launch.pyw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ude_launch.pyw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s://github.com/Adam-Blf/urban-data-explorer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ude_launch.pyw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mpi_launch.pyw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file:///C:/Users/adamb/soutenance-m1/assets/launch/mpi_launch.pyw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mpi_launch.pyw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mpi_launch.pyw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Adam-Blf/maintenance-predictive-industrie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mpi_launch.py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file:///C:/Users/adamb/soutenance-m1/assets/launch/iapero_launch.pyw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iapero_launch.pyw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Adam-Blf/ia-pero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file:///C:/Users/adamb/soutenance-m1/assets/launch/iapero_launch.pyw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hyperlink" Target="https://github.com/Adam-Blf/urban-data-explorer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hyperlink" Target="https://github.com/Adam-Blf/maintenance-predictive-industrielle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hyperlink" Target="https://github.com/Adam-Blf/ia-per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6BA3D8"/>
                </a:solidFill>
                <a:latin typeface="Gilroy"/>
              </a:rPr>
              <a:t>SOUTENANCE DE FIN D'ETUDES  |  M1 DATA ENGINEERING &amp;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0972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FFFFFF"/>
                </a:solidFill>
                <a:latin typeface="Gilroy"/>
              </a:rPr>
              <a:t>Bloc 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43B8"/>
                </a:solidFill>
                <a:latin typeface="Gilroy"/>
              </a:rPr>
              <a:t>RNCP 40875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9BBDE0"/>
                </a:solidFill>
                <a:latin typeface="Calibri"/>
              </a:rPr>
              <a:t>Expert en Ingenierie de Donnees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675887"/>
            <a:ext cx="5303520" cy="36576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22191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Gilroy"/>
              </a:rPr>
              <a:t>Adam Beloucif  &amp;  Emilien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07408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A3D8"/>
                </a:solidFill>
                <a:latin typeface="Calibri"/>
              </a:rPr>
              <a:t>EFREI Villejuif  |  Session 2025-2026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28032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43B8"/>
                </a:solidFill>
                <a:latin typeface="Gilroy"/>
              </a:rPr>
              <a:t>Jury 5  |  Salle K006  |  2 juillet 2026  |  9h - 10h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Contexte &amp; problematique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63767"/>
                </a:solidFill>
                <a:latin typeface="Gilroy"/>
              </a:rPr>
              <a:t>Fil rouge  -  transformer la donnee en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56B8A"/>
                </a:solidFill>
                <a:latin typeface="Calibri"/>
              </a:rPr>
              <a:t>Trois projets complementaires couvrant la chaine de valeur data complete.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2286000"/>
            <a:ext cx="3611880" cy="9144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63767"/>
                </a:solidFill>
                <a:latin typeface="Gilroy"/>
              </a:rPr>
              <a:t>1  Data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Construire l'architecture
qui collecte, stocke et
expose la donnee.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2286000"/>
            <a:ext cx="3611880" cy="9144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7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C78B4"/>
                </a:solidFill>
                <a:latin typeface="Gilroy"/>
              </a:rPr>
              <a:t>2  Data Science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7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Modeliser pour predire
et outiller la decision
metier.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1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2286000"/>
            <a:ext cx="3611880" cy="9144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43B8"/>
                </a:solidFill>
                <a:latin typeface="Gilroy"/>
              </a:rPr>
              <a:t>3  IA Generative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Comprendre le langage
naturel et generer une
reponse personnalisee.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5166360"/>
            <a:ext cx="11155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Une donnee non exploitee n'a aucune valeur. Chaque projet repond a un besoin metier concret, avec preuves techniques verifiables dans le code.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Vue d'ensemble des 3 projets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2588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25880"/>
            <a:ext cx="109728" cy="141732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163767"/>
                </a:solidFill>
                <a:latin typeface="Gilroy"/>
              </a:rPr>
              <a:t>Urban Data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37943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1  |  C1.1 - C2.4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3055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Exploration du marche immobilier parisien : 82 sources publiques collectees, nettoyees et visualisees sur une carte interactive. Chaque arrondissement analysable en temps reel.</a:t>
            </a:r>
          </a:p>
        </p:txBody>
      </p:sp>
      <p:sp>
        <p:nvSpPr>
          <p:cNvPr id="11" name="Rounded Rectangle 10">
            <a:hlinkClick r:id="rId2"/>
          </p:cNvPr>
          <p:cNvSpPr/>
          <p:nvPr/>
        </p:nvSpPr>
        <p:spPr>
          <a:xfrm>
            <a:off x="9235440" y="178308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88036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2880360"/>
            <a:ext cx="109728" cy="141732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180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0C78B4"/>
                </a:solidFill>
                <a:latin typeface="Gilroy"/>
              </a:rPr>
              <a:t>Maintenance Predictive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39242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C3.1 - C4.3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68503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Anticiper les pannes de machines industrielles avant qu'elles surviennent. L'IA detecte 9 pannes sur 10 avec 24h d'avance. Passer de 100 EUR/h corrective a 20 EUR/h preventive.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9235440" y="333756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43484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434840"/>
            <a:ext cx="109728" cy="14173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26279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43B8"/>
                </a:solidFill>
                <a:latin typeface="Gilroy"/>
              </a:rPr>
              <a:t>L'IA Pero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4690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C5.1 - C5.3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23951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Dites « quelque chose de frais » et l'IA recommande un cocktail et cree la recette. 1280 cocktails, comprehension du langage naturel, refus automatique des requetes hors-sujet.</a:t>
            </a:r>
          </a:p>
        </p:txBody>
      </p:sp>
      <p:sp>
        <p:nvSpPr>
          <p:cNvPr id="23" name="Rounded Rectangle 22">
            <a:hlinkClick r:id="rId4"/>
          </p:cNvPr>
          <p:cNvSpPr/>
          <p:nvPr/>
        </p:nvSpPr>
        <p:spPr>
          <a:xfrm>
            <a:off x="9235440" y="489204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Contributions individuelles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6B8A"/>
                </a:solidFill>
                <a:latin typeface="Calibri"/>
              </a:rPr>
              <a:t>Presentation collective, evaluation individualisee. Repartition par projet :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755648"/>
            <a:ext cx="26517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Projet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755648"/>
            <a:ext cx="429768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Adam Beloucif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755648"/>
            <a:ext cx="42519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Emilien Morice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194560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Urban Data Explorer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7248" y="2194560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Architecture data, API securisee, modele PG/Cassandra,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4927" y="2194560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Sourcing &amp; qualite 82 sources, front cartographique, data prep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3127248"/>
            <a:ext cx="26517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Maintenance Predictive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3127248"/>
            <a:ext cx="429768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Modelisation 4 modeles, selection XGBoost, dashboard 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4927" y="3127248"/>
            <a:ext cx="42519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EDA, preparation donnees, analyse des correlations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4059935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L'IA Pero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7248" y="4059935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Backend RAG/SBERT, guardrail semantique, cache JSON MD5, evaluation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4059935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Referentiel cocktails, scenarios d'usage, tests des seuils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596188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56B8A"/>
                </a:solidFill>
                <a:latin typeface="Calibri"/>
              </a:rPr>
              <a:t>Chaque membre porte au moins un choix technique majeur et en connait les limites.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Besoin &amp;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325880"/>
            <a:ext cx="53949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Explorer le marche du logement parisien en croisant 82 sources publiques (prix, transports, logement social, environnement).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Pipeline en 3 etapes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Donnees brutes &gt; nettoyees + geocodees &gt; analyses pret-a-l'emploi (architecture Bronze-Silver-Gold).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Double stockage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PostgreSQL pour les analyses historiques, Cassandra pour les flux en temps reel (Kafka).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Interface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API securisee alimente un tableau de bord cartographique interactif par arrondissement.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525415"/>
            <a:ext cx="5678424" cy="367000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2847"/>
            <a:ext cx="5623560" cy="3615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394960"/>
            <a:ext cx="5623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Dashboard Urban Data Explorer  -  choroplethe prix m2</a:t>
            </a:r>
          </a:p>
        </p:txBody>
      </p:sp>
      <p:sp>
        <p:nvSpPr>
          <p:cNvPr id="10" name="Rounded Rectangle 9">
            <a:hlinkClick r:id="rId3"/>
          </p:cNvPr>
          <p:cNvSpPr/>
          <p:nvPr/>
        </p:nvSpPr>
        <p:spPr>
          <a:xfrm>
            <a:off x="475488" y="585216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Bases de donnees  SQL vs NoSQL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Relationnelle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6856" y="118872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NoSQL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83080"/>
            <a:ext cx="5504688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1783080"/>
            <a:ext cx="5504688" cy="45720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PostgreSQL  -  Architecture medaillon Gold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Datamarts Gold aplatis, indexes sur arrondissement et mois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Index sur axes de requete -&gt; p95 &lt; 4 ms en jointure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Contraintes NOT NULL / integrite referentielle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Test de charge : scripts/test_load_postgres.py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Besoin : agregats analytiques par arrondissement x mois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783080"/>
            <a:ext cx="5468112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83080"/>
            <a:ext cx="5468112" cy="45720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Cassandra  -  query-first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Partition par event_type, clustering event_time DESC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TTL 7 jours -&gt; la donnee chaude expire seule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Deux patterns d'acces : par type et par arrondissement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Adapte aux evenements semi-structures a forte velocite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PG aurait impose un schema rigide + purges manuelles</a:t>
            </a:r>
          </a:p>
        </p:txBody>
      </p:sp>
      <p:sp>
        <p:nvSpPr>
          <p:cNvPr id="16" name="Rounded Rectangle 15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Data Lake &amp; streaming temps 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Data Lake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11095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19072"/>
            <a:ext cx="5486400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82 sources / 4 familles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mobilite (17), vie_quotidienne (42), environnement (11), logement (12) -&gt; Bronze Parquet.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Silver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normalisation des codes, geocodage point-in-polygon IRIS.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Gold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datamarts dashboard &amp; timeline, format colonnaire optimise.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Kafka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producteur / consommateur temps reel evenement par evenement.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Micro-batch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streaming/microbatch.py -&gt; fenetres tumbling 10 s (count, moyenne).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32787"/>
            <a:ext cx="5449824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frastructures_stacked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760219"/>
            <a:ext cx="5394960" cy="2697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44384" y="4590288"/>
            <a:ext cx="2688336" cy="15361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eocoding_integ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816" y="4617720"/>
            <a:ext cx="2633472" cy="148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612648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Repartition des sources + integrite du geocodage</a:t>
            </a:r>
          </a:p>
        </p:txBody>
      </p:sp>
      <p:sp>
        <p:nvSpPr>
          <p:cNvPr id="14" name="Rounded Rectangle 13">
            <a:hlinkClick r:id="rId4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API &amp; securite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API securisee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83080"/>
            <a:ext cx="5486400" cy="33101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JWT HS256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secret en variable d'env (jamais commite), roles viewer / admin.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401 vs 403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authentification et autorisation differenciees.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Quotas par IP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120 anonyme / 600 authentifie req/min -&gt; 429 si depassement.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Swagger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documentation interactive live sur /docs.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CORS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restreint a l'origine du front, donnees Open Data (RGPD by design).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16636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63767"/>
                </a:solidFill>
                <a:latin typeface="Gilroy"/>
              </a:rPr>
              <a:t>Scenario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5449824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0D1B33"/>
                </a:solidFill>
                <a:latin typeface="Calibri"/>
              </a:rPr>
              <a:t>Dashboard -&gt; clic 11e arr. -&gt; comparaison 11e/16e -&gt; /docs -&gt; curl token -&gt; 403 sans role admin.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de-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3" name="Rounded Rectangle 12">
            <a:hlinkClick r:id="rId4"/>
          </p:cNvPr>
          <p:cNvSpPr/>
          <p:nvPr/>
        </p:nvSpPr>
        <p:spPr>
          <a:xfrm>
            <a:off x="6291072" y="5650992"/>
            <a:ext cx="233172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Performance, resilience &amp; limites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3898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Resilience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02536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Perf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11201400" cy="23957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Metriques pipeline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etl/metrics.py -&gt; duree, lignes, octets, lignes/sec via GET /pipeline/metrics.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Optimisations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Polars (Rust) vs pandas, Parquet colonnaire, lru_cache geocodage inverse.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Resilience testee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scripts/test_resilience.py : kill Postgres -&gt; fallback parquet -&gt; restart.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Compose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healthchecks, restart unless-stopped, depends_on service_healthy.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4315968"/>
            <a:ext cx="11228832" cy="160020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62272"/>
            <a:ext cx="10058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43B8"/>
                </a:solidFill>
                <a:latin typeface="Gilroy"/>
              </a:rPr>
              <a:t>Limites assumees &amp;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46320"/>
            <a:ext cx="108082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Demo mono-noeud (replication_factor 1), pas de HA reelle. Chemin documente vers cluster 3 noeuds + replication Cassandra + API stateless replicable.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Question metier &amp; strategie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8529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Strategie d'integration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64008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Probleme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une panne non planifiee coute 5 a 50 k EUR/h d'arret de ligne.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Corrective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on repare apres la casse -&gt; cout maximal, imprevu.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Preventive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entretien calendaire -&gt; sur-maintenance, pieces gaspillees.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Predictive (cible)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predire la panne sous 24 h -&gt; intervenir au bon moment.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755648"/>
            <a:ext cx="4370832" cy="349300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52944" y="1883664"/>
            <a:ext cx="39319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C78B4"/>
                </a:solidFill>
                <a:latin typeface="Gilroy"/>
              </a:rPr>
              <a:t>Feuille de route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2944" y="2359152"/>
            <a:ext cx="40233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Capteurs IoT existants -&gt; collecte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Modele predictif + seuil de decision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Alerte responsable maintenance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Boucle de reentrainement periodique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491947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C78B4"/>
                </a:solidFill>
                <a:latin typeface="Gilroy"/>
              </a:rPr>
              <a:t>Cout corrective ~100 EUR/h  -&gt;  predictive ~20 EUR/h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Donnees &amp; analyse exploratoire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Preparation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3976" y="11887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5596128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Donnees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24 042 mesures de capteurs industriels (vibrations, temperature, pression, courant) sur Kaggle.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Objectif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Predire si une panne surviendra dans les 24h - un evenement rare : 14.8 % des cas seulement.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Nettoyage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Valeurs aberrantes corrigees, valeurs manquantes remplies par la mediane (sans contaminer les donnees de test).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Decouverte cle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La vibration et la temperature moteur sont les deux signaux les plus revelateurs d'une panne imminente.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Explication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L'usure mecanique chauffe ET fait vibrer la machine en meme temps : deux alarmes qui se confirment mutuellement.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Analyse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6 etapes : repartition des valeurs, valeurs extremes, correlations, equilibre 85/15 %, tendances dans le temps.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0795" y="1709928"/>
            <a:ext cx="5255514" cy="421538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227" y="1737360"/>
            <a:ext cx="520065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91072" y="594360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Matrice de correlation des variables capteurs</a:t>
            </a:r>
          </a:p>
        </p:txBody>
      </p:sp>
      <p:sp>
        <p:nvSpPr>
          <p:cNvPr id="12" name="Rounded Rectangle 11">
            <a:hlinkClick r:id="rId3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Modeles &amp; evaluation comparative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Modeles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28216" y="1188720"/>
            <a:ext cx="267004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 + ecoresponsabilite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92224"/>
            <a:ext cx="365760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FFFFFF"/>
                </a:solidFill>
                <a:latin typeface="Gilroy"/>
              </a:rPr>
              <a:t>Modele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33087" y="1792224"/>
            <a:ext cx="146304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6128" y="1792224"/>
            <a:ext cx="15544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1792224"/>
            <a:ext cx="24688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CV F1 (5-fold)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19488" y="1792224"/>
            <a:ext cx="1444752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Fit 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2340864"/>
            <a:ext cx="365760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LogReg 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33087" y="2340864"/>
            <a:ext cx="146304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0.747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128" y="2340864"/>
            <a:ext cx="15544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0.959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2340864"/>
            <a:ext cx="24688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0.750 +/-0.008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19488" y="2340864"/>
            <a:ext cx="1444752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0.06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88950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Random Forest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7" y="288950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0.863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96128" y="288950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0.992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0608" y="2889504"/>
            <a:ext cx="2468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0.844 +/-0.009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9488" y="2889504"/>
            <a:ext cx="14447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0.89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3438144"/>
            <a:ext cx="365760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0C78B4"/>
                </a:solidFill>
                <a:latin typeface="Calibri"/>
              </a:rPr>
              <a:t>XGBoost (retenu)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3087" y="3438144"/>
            <a:ext cx="146304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0.886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96128" y="3438144"/>
            <a:ext cx="15544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0.995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50608" y="3438144"/>
            <a:ext cx="24688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0.886 +/-0.011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9488" y="3438144"/>
            <a:ext cx="1444752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0.50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" y="398678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MLP 64-32-16 (DL)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398678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0.836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398678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0.984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50608" y="3986784"/>
            <a:ext cx="2468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0.795 +/-0.010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19488" y="3986784"/>
            <a:ext cx="14447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2.36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4773168"/>
            <a:ext cx="11201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Critere de selection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Le meilleur modele est le plus performant ET le plus stable sur de nouvelles donnees (F1 penalise par sa variabilite).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Integrite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Le modele n'a jamais vu les donnees de test pendant l'entrainement (garantit une evaluation honnete).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Validation croisee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XGBoost teste 5 fois sur des jeux differents : F1=0.886 +/- 0.011 -&gt; generalise bien.</a:t>
            </a:r>
          </a:p>
        </p:txBody>
      </p:sp>
      <p:sp>
        <p:nvSpPr>
          <p:cNvPr id="34" name="Rounded Rectangle 33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Dashboard decisionnel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30428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Dashboard interactif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394960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Concu pour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le responsable maintenance, pas l'expert en IA : interface simple, lisible, actionnable.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Simulation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Bougez les curseurs (vibration, temperature...) : la prediction se met a jour en temps reel.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Explication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Quelles mesures ont declanche l'alerte ? Affiche en langage metier, sans jargon technique.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Distinct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Outil d'aide a la decision separe des graphiques d'analyse du rapport.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28032"/>
            <a:ext cx="5486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Demo : vibration elevee + moteur chaud -&gt; alerte rouge -&gt; l'IA explique pourquoi.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intenance-dashboard-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bonus realises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5504688" cy="4279392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F43B8"/>
                </a:solidFill>
                <a:latin typeface="Gilroy"/>
              </a:rPr>
              <a:t>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Donnees simulees (pas de bruit capteur reel)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Pas de dimension temporelle exploitee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Un LSTM sur sequences serait la suite logique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Derive en production -&gt; monitoring + reentrainement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389888"/>
            <a:ext cx="5468112" cy="4279392"/>
          </a:xfrm>
          <a:prstGeom prst="rect">
            <a:avLst/>
          </a:prstGeom>
          <a:solidFill>
            <a:srgbClr val="E8F4FF"/>
          </a:solidFill>
          <a:ln w="12700">
            <a:solidFill>
              <a:srgbClr val="0C7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C78B4"/>
                </a:solidFill>
                <a:latin typeface="Gilroy"/>
              </a:rPr>
              <a:t>Bonus deja realises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Multiclass : type de panne predit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Regression : RUL (duree de vie restante)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Calibration des probabilites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Tuning des hyperparametres justifie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Cas d'usage &amp; architecture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Cas d'usage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Trouver un cocktail depuis une envie exprimee en mots naturels : « quelque chose de frais ».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Pourquoi l'IA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Une recherche par mots-cles echoue sur « fruite et tropical » : l'IA comprend l'intention.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Deux etapes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Comprendre la requete (recherche semantique) PUIS creer une recette sur mesure (generation).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Cadre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Thematique alternative validee par l'EFREI (Annexe I du sujet), couvre C5.1-C5.3.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75488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43B8"/>
                </a:solidFill>
                <a:latin typeface="Gilroy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047488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Votre requete est verifee (hors-sujet = refus poli) &gt; consultee en cache si connue &gt; sinon : recherche + generation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78369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05801"/>
            <a:ext cx="5394960" cy="3468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91072" y="577900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Interface Speakeasy de L'IA Pero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Solution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Solution GenAI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504688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Comprehension semantique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Le moteur comprend le sens, pas les mots exacts (« frais et fruite » = rhum-agrumes). Fonctionne 100 % en local, sans internet.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Generateur de recettes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IA specialisee sur cocktails cree une recette sur mesure. Repli sur un modele de secours si l'IA principale est absente.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Memoire intelligente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Les requetes deja posees sont mises en cache : reponse instantanee (&lt; 100 ms) au lieu de ~3 secondes.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Filtre anti-detournement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Calibre sur 30 tests : 100 % des requetes hors-sujet (« repare mon velo ») sont refusees poliment.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46320"/>
            <a:ext cx="5596128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Demo : « quelque chose de frais et fruite » -&gt; 5 cocktails + radar de saveurs ; « repare mon velo » -&gt; refus poli (hors sujet cocktails).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recommendation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Evaluation &amp; risques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1214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Evaluation qualite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Filtre hors-sujet : 100 %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Apres calibration : 15/15 requetes inappropriees refusees (vs 13/15 avant). Zero fuite hors-sujet.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Pertinence : hit@5 = 91.3 %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21 requetes sur 23 ont trouve au moins 1 cocktail pertinent dans les 5 premiers resultats proposes.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Precision : P@1 = 90 %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Le premier cocktail propose est pertinent 9 fois sur 10. Evalue sur 38 requetes labelisees.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Pistes d'amelioration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Indexation vectorielle (FAISS) pour 100k+ cocktails, support FR/EN/ES, fine-tuning domaine cocktails.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4736592"/>
            <a:ext cx="5596128" cy="141732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8463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43B8"/>
                </a:solidFill>
                <a:latin typeface="Gilroy"/>
              </a:rPr>
              <a:t>Risques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166360"/>
            <a:ext cx="52120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Inventions de l'IA mitigees par le cache et la recherche  |  en francais : -15 % precision vs anglais  |  dataset majoritairement anglophone  |  usage responsable de l'alcool.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42377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apero-similarit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69809"/>
            <a:ext cx="5394960" cy="3468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5925312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Scores de similarite + decision du guardrail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Synthese : competences -&gt; preuves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Gold PG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Cassandra query-first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3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3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Parquet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71432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71432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1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1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Resilience testee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API JWT + quotas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74136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74136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7016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7016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Kafka + micro-batch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3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2783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Polars multi-sources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71432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71432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54311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4311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Metriques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5488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Prep fit-train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4136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74136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57016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57016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Dashboard Streamlit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72783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72783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EDA correlations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71432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71432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54311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54311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Strategie predictive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5488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4 modeles testes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74136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74136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57016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57016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XGBoost F1=0.886 ROC=0.995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72783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72783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55664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55664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 d'usage NL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71432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71432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54311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54311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SBERT + RAG GPT-2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" y="5230368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5488" y="5230368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321808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5650992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Guardrail 0.40 hit@5=91.3%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" y="63276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CB487"/>
                </a:solidFill>
                <a:latin typeface="Calibri"/>
              </a:rPr>
              <a:t>17 competences C1.1 -&gt; C5.3 couvertes, chacune avec une preuve dans le code.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ameliorations transverses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89888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Haute disponibilite reelle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1481328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Passer du mono-noeud a un cluster 3 noeuds (PG + Cassandra).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340864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2340864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Dimension temporelle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432304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LSTM sur sequences capteurs pour la maintenance predictive.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3291840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3291840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Base vectorielle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3383280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pgvector / FAISS persistant au lieu de la matrice memoire pour L'IA Pero.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42816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242816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34256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Monitoring &amp; derive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592" y="4334256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Detection de drift + reentrainement automatise en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5193792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5193792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85232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CI/CD complet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6592" y="5285232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Pipeline GitHub Actions (tests + build + deploy) sur les 3 repos.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ilroy"/>
              </a:rPr>
              <a:t>Conclusion &amp; apprentissages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0" cy="457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10515600" cy="2423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Brancher tests et metriques des le jour 1, pas en consolidation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Justifier chaque choix technique par un besoin metier concret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Documenter les limites = posture professionnelle, pas un aveu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Une chaine complete : data engineering -&gt; data science -&gt;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79392"/>
            <a:ext cx="10058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6BA3D8"/>
                </a:solidFill>
                <a:latin typeface="Gilroy"/>
              </a:rPr>
              <a:t>Les 3 projets en un clic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502920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163767"/>
                </a:solidFill>
                <a:latin typeface="Gilroy"/>
              </a:rPr>
              <a:t>Urban Data Explorer -&gt;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4187952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0C78B4"/>
                </a:solidFill>
                <a:latin typeface="Gilroy"/>
              </a:rPr>
              <a:t>Maintenance Predictive -&gt;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7882127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L'IA Pero -&gt;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742432"/>
            <a:ext cx="10515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FFFF"/>
                </a:solidFill>
                <a:latin typeface="Gilroy"/>
              </a:rPr>
              <a:t>Merci de votre attention  |  Adam Beloucif  &amp;  Emilien Morice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Urban Data Explorer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rban-district-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d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2492393"/>
            <a:ext cx="3511296" cy="2257261"/>
          </a:xfrm>
          <a:prstGeom prst="rect">
            <a:avLst/>
          </a:prstGeom>
        </p:spPr>
      </p:pic>
      <p:sp>
        <p:nvSpPr>
          <p:cNvPr id="12" name="Rounded Rectangle 11">
            <a:hlinkClick r:id="rId5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Maintenance Predictive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715768"/>
            <a:ext cx="356616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nthly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2743200"/>
            <a:ext cx="3511296" cy="175564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L'IA Pero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72234"/>
            <a:ext cx="5440679" cy="34975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36207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apero-recommendation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72234"/>
            <a:ext cx="5440679" cy="3497579"/>
          </a:xfrm>
          <a:prstGeom prst="rect">
            <a:avLst/>
          </a:prstGeom>
        </p:spPr>
      </p:pic>
      <p:sp>
        <p:nvSpPr>
          <p:cNvPr id="10" name="Rounded Rectangle 9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