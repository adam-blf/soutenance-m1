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urban.beloucif.com" TargetMode="External"/><Relationship Id="rId4" Type="http://schemas.openxmlformats.org/officeDocument/2006/relationships/hyperlink" Target="https://github.com/Adam-Blf/urban-data-explor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github.com/Adam-Blf/urban-data-explorer" TargetMode="External"/><Relationship Id="rId4" Type="http://schemas.openxmlformats.org/officeDocument/2006/relationships/hyperlink" Target="https://urban.beloucif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dam-Blf/maintenance-predictive-industrielle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github.com/Adam-Blf/ia-pero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dam-Blf/urban-data-explorer" TargetMode="External"/><Relationship Id="rId3" Type="http://schemas.openxmlformats.org/officeDocument/2006/relationships/hyperlink" Target="https://github.com/Adam-Blf/maintenance-predictive-industrielle" TargetMode="External"/><Relationship Id="rId4" Type="http://schemas.openxmlformats.org/officeDocument/2006/relationships/hyperlink" Target="https://github.com/Adam-Blf/ia-pero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hyperlink" Target="https://github.com/Adam-Blf/urban-data-explorer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2.png"/><Relationship Id="rId4" Type="http://schemas.openxmlformats.org/officeDocument/2006/relationships/hyperlink" Target="https://github.com/Adam-Blf/maintenance-predictive-industrielle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hyperlink" Target="https://github.com/Adam-Blf/ia-pero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09728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6BA3D8"/>
                </a:solidFill>
                <a:latin typeface="Gilroy"/>
              </a:rPr>
              <a:t>SOUTENANCE DE FIN D'ETUDES  |  M1 DATA ENGINEERING &amp;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09728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200" b="1" i="0">
                <a:solidFill>
                  <a:srgbClr val="FFFFFF"/>
                </a:solidFill>
                <a:latin typeface="Gilroy"/>
              </a:rPr>
              <a:t>Bloc 1 &amp;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860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43B8"/>
                </a:solidFill>
                <a:latin typeface="Gilroy"/>
              </a:rPr>
              <a:t>RNCP 40875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0632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9BBDE0"/>
                </a:solidFill>
                <a:latin typeface="Calibri"/>
              </a:rPr>
              <a:t>Expert en Ingenierie de Donnees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675887"/>
            <a:ext cx="5303520" cy="36576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22191"/>
            <a:ext cx="10972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Gilroy"/>
              </a:rPr>
              <a:t>Adam Beloucif  &amp;  Emilien Morice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407408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BA3D8"/>
                </a:solidFill>
                <a:latin typeface="Calibri"/>
              </a:rPr>
              <a:t>EFREI Villejuif  |  Session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Contexte &amp; problematique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63767"/>
                </a:solidFill>
                <a:latin typeface="Gilroy"/>
              </a:rPr>
              <a:t>Fil rouge  -  transformer la donnee en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56B8A"/>
                </a:solidFill>
                <a:latin typeface="Calibri"/>
              </a:rPr>
              <a:t>Trois projets complementaires couvrant la chaine de valeur data complete.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2286000"/>
            <a:ext cx="3611880" cy="9144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163767"/>
                </a:solidFill>
                <a:latin typeface="Gilroy"/>
              </a:rPr>
              <a:t>1  Data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Construire l'architecture
qui collecte, stocke et
expose la donnee.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2286000"/>
            <a:ext cx="3611880" cy="9144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7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0C78B4"/>
                </a:solidFill>
                <a:latin typeface="Gilroy"/>
              </a:rPr>
              <a:t>2  Data Science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7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Modeliser pour predire
et outiller la decision
metier.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9871" y="2286000"/>
            <a:ext cx="3611880" cy="260604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19871" y="2286000"/>
            <a:ext cx="3611880" cy="9144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514600"/>
            <a:ext cx="32004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43B8"/>
                </a:solidFill>
                <a:latin typeface="Gilroy"/>
              </a:rPr>
              <a:t>3  IA Generative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3035808"/>
            <a:ext cx="3200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Comprendre le langage
naturel et generer une
reponse personnalisee.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5166360"/>
            <a:ext cx="111556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Une donnee non exploitee n'a aucune valeur. Chaque projet repond a un besoin metier concret, avec preuves techniques verifiables dans le code.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Vue d'ensemble des 3 projets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2588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25880"/>
            <a:ext cx="109728" cy="141732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163767"/>
                </a:solidFill>
                <a:latin typeface="Gilroy"/>
              </a:rPr>
              <a:t>Urban Data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37943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1  |  C1.1 - C2.4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Plateforme data du logement parisien. 24 sources Open Data, architecture medaillon, PostgreSQL datamarts Gold, Cassandra, Kafka, API FastAPI securisee, dashboard MapLibre.</a:t>
            </a:r>
          </a:p>
        </p:txBody>
      </p:sp>
      <p:sp>
        <p:nvSpPr>
          <p:cNvPr id="11" name="Rounded Rectangle 10">
            <a:hlinkClick r:id="rId2"/>
          </p:cNvPr>
          <p:cNvSpPr/>
          <p:nvPr/>
        </p:nvSpPr>
        <p:spPr>
          <a:xfrm>
            <a:off x="9235440" y="178308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288036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2880360"/>
            <a:ext cx="109728" cy="141732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71800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0C78B4"/>
                </a:solidFill>
                <a:latin typeface="Gilroy"/>
              </a:rPr>
              <a:t>Maintenance Predictive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392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C3.1 - C4.3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68503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Prediction de panne machine sous 24 h depuis capteurs IoT. 4 modeles (dont Deep Learning), mesure CO2 CodeCarbon, dashboard decisionnel Streamlit.</a:t>
            </a:r>
          </a:p>
        </p:txBody>
      </p:sp>
      <p:sp>
        <p:nvSpPr>
          <p:cNvPr id="17" name="Rounded Rectangle 16">
            <a:hlinkClick r:id="rId3"/>
          </p:cNvPr>
          <p:cNvSpPr/>
          <p:nvPr/>
        </p:nvSpPr>
        <p:spPr>
          <a:xfrm>
            <a:off x="9235440" y="333756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434840"/>
            <a:ext cx="11247120" cy="141732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434840"/>
            <a:ext cx="109728" cy="14173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26279"/>
            <a:ext cx="50292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43B8"/>
                </a:solidFill>
                <a:latin typeface="Gilroy"/>
              </a:rPr>
              <a:t>L'IA Pero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94690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556B8A"/>
                </a:solidFill>
                <a:latin typeface="Calibri"/>
              </a:rPr>
              <a:t>Bloc 2  |  C5.1 - C5.3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239512"/>
            <a:ext cx="795527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Recommandation de cocktails par IA semantique. 612 cocktails, SBERT 384 dims, guardrail 0.40 (F1=0.92), RAG + GPT-2 fine-tune, cache JSON MD5, interface Streamlit MixCraft.</a:t>
            </a:r>
          </a:p>
        </p:txBody>
      </p:sp>
      <p:sp>
        <p:nvSpPr>
          <p:cNvPr id="23" name="Rounded Rectangle 22">
            <a:hlinkClick r:id="rId4"/>
          </p:cNvPr>
          <p:cNvSpPr/>
          <p:nvPr/>
        </p:nvSpPr>
        <p:spPr>
          <a:xfrm>
            <a:off x="9235440" y="4892040"/>
            <a:ext cx="2176272" cy="475488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Contributions individuelles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9844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6B8A"/>
                </a:solidFill>
                <a:latin typeface="Calibri"/>
              </a:rPr>
              <a:t>Presentation collective, evaluation individualisee. Repartition par projet :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1755648"/>
            <a:ext cx="26517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Projet</a:t>
            </a:r>
          </a:p>
        </p:txBody>
      </p:sp>
      <p:sp>
        <p:nvSpPr>
          <p:cNvPr id="8" name="Rectangle 7"/>
          <p:cNvSpPr/>
          <p:nvPr/>
        </p:nvSpPr>
        <p:spPr>
          <a:xfrm>
            <a:off x="3127248" y="1755648"/>
            <a:ext cx="429768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Adam Beloucif</a:t>
            </a:r>
          </a:p>
        </p:txBody>
      </p:sp>
      <p:sp>
        <p:nvSpPr>
          <p:cNvPr id="9" name="Rectangle 8"/>
          <p:cNvSpPr/>
          <p:nvPr/>
        </p:nvSpPr>
        <p:spPr>
          <a:xfrm>
            <a:off x="7424927" y="1755648"/>
            <a:ext cx="4251960" cy="438912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250" b="1" i="0">
                <a:solidFill>
                  <a:srgbClr val="FFFFFF"/>
                </a:solidFill>
                <a:latin typeface="Gilroy"/>
              </a:rPr>
              <a:t>Emilien Morice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194560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Urban Data Explorer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2194560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Architecture data, API securisee, modele PG/Cassandra,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24927" y="2194560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Sourcing &amp; qualite 24 sources, front cartographique, data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3127248"/>
            <a:ext cx="26517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Maintenance Predictive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27248" y="3127248"/>
            <a:ext cx="429768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Modelisation 4 modeles, selection XGBoost, dashboard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24927" y="3127248"/>
            <a:ext cx="4251960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EDA, preparation donnees, analyse des correlations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4059935"/>
            <a:ext cx="26517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1" i="0">
                <a:solidFill>
                  <a:srgbClr val="0D1B33"/>
                </a:solidFill>
                <a:latin typeface="Calibri"/>
              </a:rPr>
              <a:t>L'IA Pero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7248" y="4059935"/>
            <a:ext cx="429768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Backend RAG/SBERT, guardrail semantique, cache SQLite, evaluation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4059935"/>
            <a:ext cx="4251960" cy="932688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/>
          <a:lstStyle/>
          <a:p>
            <a:pPr algn="l"/>
            <a:r>
              <a:rPr sz="1150" b="0" i="0">
                <a:solidFill>
                  <a:srgbClr val="0D1B33"/>
                </a:solidFill>
                <a:latin typeface="Calibri"/>
              </a:rPr>
              <a:t>Referentiel cocktails, scenarios d'usage, tests des seuils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5961888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56B8A"/>
                </a:solidFill>
                <a:latin typeface="Calibri"/>
              </a:rPr>
              <a:t>Chaque membre porte au moins un choix technique majeur et en connait les limites.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Besoin &amp;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325880"/>
            <a:ext cx="539496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metier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explorer le marche du logement parisien en croisant 24 sources Open Data heterogenes.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Architecture medaillon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Bronze (brut Parquet) -&gt; Silver (normalise, geocode) -&gt; Gold (datamarts).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Stockage dual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PostgreSQL Gold datamarts (schema applatit oriente requetes), Cassandra query-first pour le streaming.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Exposition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API FastAPI securisee -&gt; dashboard React / MapLibre.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9048" y="1525415"/>
            <a:ext cx="5678424" cy="3670009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552847"/>
            <a:ext cx="5623560" cy="3615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5394960"/>
            <a:ext cx="5623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Dashboard Urban Data Explorer  -  choroplethe prix m2</a:t>
            </a:r>
          </a:p>
        </p:txBody>
      </p:sp>
      <p:sp>
        <p:nvSpPr>
          <p:cNvPr id="10" name="Rounded Rectangle 9">
            <a:hlinkClick r:id="rId3"/>
          </p:cNvPr>
          <p:cNvSpPr/>
          <p:nvPr/>
        </p:nvSpPr>
        <p:spPr>
          <a:xfrm>
            <a:off x="475488" y="585216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2834640" y="5852160"/>
            <a:ext cx="182880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Bases de donnees  SQL vs NoSQL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Relationnelle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6856" y="1188720"/>
            <a:ext cx="9326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NoSQL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83080"/>
            <a:ext cx="5504688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" y="1783080"/>
            <a:ext cx="5504688" cy="457200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PostgreSQL  -  Architecture medaillon Gold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Datamarts Gold aplatis, indexes sur arrondissement et mois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Index sur axes de requete -&gt; p95 &lt; 4 ms en jointure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Contraintes NOT NULL / integrite referentielle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Test de charge : scripts/test_load_postgres.py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Besoin : agregats analytiques par arrondissement x mois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6208" y="1783080"/>
            <a:ext cx="5468112" cy="385876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1783080"/>
            <a:ext cx="5468112" cy="457200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1847088"/>
            <a:ext cx="5120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FFFF"/>
                </a:solidFill>
                <a:latin typeface="Gilroy"/>
              </a:rPr>
              <a:t>Cassandra  -  query-first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55664" y="2359152"/>
            <a:ext cx="50292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Partition par event_type, clustering event_time DESC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TTL 7 jours -&gt; la donnee chaude expire seule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Deux patterns d'acces : par type et par arrondissement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Adapte aux evenements semi-structures a forte velocite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PG aurait impose un schema rigide + purges manuelles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Data Lake &amp; streaming temps 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Data Lake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11095" y="1188720"/>
            <a:ext cx="12984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19072"/>
            <a:ext cx="5486400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24 sources / 8 familles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CSV, GeoJSON, API -&gt; atterrissage Bronze en Parquet.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Silver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normalisation des codes, geocodage point-in-polygon IRIS.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Gold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datamarts dashboard &amp; timeline, format colonnaire optimise.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Kafka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producteur / consommateur temps reel evenement par evenement.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Micro-batch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streaming/microbatch.py -&gt; fenetres tumbling 10 s (count, moyenne).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2787"/>
            <a:ext cx="5449824" cy="2752344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nfrastructures_stacked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760219"/>
            <a:ext cx="5394960" cy="2697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644384" y="4590288"/>
            <a:ext cx="2688336" cy="153619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eocoding_integ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1816" y="4617720"/>
            <a:ext cx="2633472" cy="148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612648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Repartition des sources + integrite du geocodage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API &amp; securite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6642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API securisee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83080"/>
            <a:ext cx="5486400" cy="33101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JWT HS256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secret en variable d'env (jamais commite), roles viewer / admin.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401 vs 403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authentification et autorisation differenciees.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Quotas par IP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120 anonyme / 600 authentifie req/min -&gt; 429 si depassement.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Swagger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documentation interactive live sur /docs.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CORS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restreint a l'origine du front, donnees Open Data (RGPD by design).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16636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63767"/>
                </a:solidFill>
                <a:latin typeface="Gilroy"/>
              </a:rPr>
              <a:t>Scenario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5449824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0D1B33"/>
                </a:solidFill>
                <a:latin typeface="Calibri"/>
              </a:rPr>
              <a:t>Dashboard -&gt; clic 11e arr. -&gt; comparaison 11e/16e -&gt; /docs -&gt; curl token -&gt; 403 sans role admin.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ude-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3" name="Rounded Rectangle 12">
            <a:hlinkClick r:id="rId3"/>
          </p:cNvPr>
          <p:cNvSpPr/>
          <p:nvPr/>
        </p:nvSpPr>
        <p:spPr>
          <a:xfrm>
            <a:off x="6291072" y="5650992"/>
            <a:ext cx="2331720" cy="457200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Repo -&gt;</a:t>
            </a:r>
          </a:p>
        </p:txBody>
      </p:sp>
      <p:sp>
        <p:nvSpPr>
          <p:cNvPr id="14" name="Rounded Rectangle 13">
            <a:hlinkClick r:id="rId4"/>
          </p:cNvPr>
          <p:cNvSpPr/>
          <p:nvPr/>
        </p:nvSpPr>
        <p:spPr>
          <a:xfrm>
            <a:off x="8796528" y="5650992"/>
            <a:ext cx="2240280" cy="457200"/>
          </a:xfrm>
          <a:prstGeom prst="roundRect">
            <a:avLst>
              <a:gd name="adj" fmla="val 30000"/>
            </a:avLst>
          </a:prstGeom>
          <a:solidFill>
            <a:srgbClr val="0518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Demo live -&gt;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1  |  URBAN DATA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Performance, resilience &amp; limites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38988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C1.4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Resilience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02536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C2.4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Perf pipelines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11201400" cy="239572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Metriques pipeline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etl/metrics.py -&gt; duree, lignes, octets, lignes/sec via GET /pipeline/metrics.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Optimisations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Polars (Rust) vs pandas, Parquet colonnaire, lru_cache geocodage inverse.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Resilience testee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scripts/test_resilience.py : kill Postgres -&gt; fallback parquet -&gt; restart.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Compose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healthchecks, restart unless-stopped, depends_on service_healthy.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" y="4315968"/>
            <a:ext cx="11228832" cy="160020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62272"/>
            <a:ext cx="100584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FF43B8"/>
                </a:solidFill>
                <a:latin typeface="Gilroy"/>
              </a:rPr>
              <a:t>Limites assumees &amp; roadmap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4846320"/>
            <a:ext cx="108082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0" i="0">
                <a:solidFill>
                  <a:srgbClr val="0D1B33"/>
                </a:solidFill>
                <a:latin typeface="Calibri"/>
              </a:rPr>
              <a:t>Demo mono-noeud (replication_factor 1), pas de HA reelle. Chemin documente vers cluster 3 noeuds + replication Cassandra + API stateless replicable.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Question metier &amp; strategie IA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8529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Strategie d'integration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55648"/>
            <a:ext cx="64008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Probleme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une panne non planifiee coute 5 a 50 k EUR/h d'arret de ligne.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Corrective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on repare apres la casse -&gt; cout maximal, imprevu.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Preventive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entretien calendaire -&gt; sur-maintenance, pieces gaspillees.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Predictive (cible)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predire la panne sous 24 h -&gt; intervenir au bon moment.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33488" y="1755648"/>
            <a:ext cx="4370832" cy="349300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52944" y="1883664"/>
            <a:ext cx="393192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C78B4"/>
                </a:solidFill>
                <a:latin typeface="Gilroy"/>
              </a:rPr>
              <a:t>Feuille de route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52944" y="2359152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Capteurs IoT existants -&gt;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Modele predictif + seuil de decision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Alerte responsable maintenance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00" b="0" i="0">
                <a:solidFill>
                  <a:srgbClr val="0D1B33"/>
                </a:solidFill>
                <a:latin typeface="Calibri"/>
              </a:rPr>
              <a:t>Boucle de reentrainement periodique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4919472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C78B4"/>
                </a:solidFill>
                <a:latin typeface="Gilroy"/>
              </a:rPr>
              <a:t>Cout corrective ~100 EUR/h  -&gt;  predictive ~20 EUR/h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Donnees &amp; analyse exploratoire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48132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Preparation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93976" y="1188720"/>
            <a:ext cx="74980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37360"/>
            <a:ext cx="5596128" cy="3703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Dataset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Kaggle industrial_machine_maintenance  -  24 042 lignes x 15 variables.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failure_within_24h (classe rare -&gt; desequilibre).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Nettoyage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imputation mediane (fit train), winsorisation outliers capteurs.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Insight cle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vibration_rms et temperature_motor : variables les plus correlees a la panne.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Coherence physique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l'usure mecanique genere vibration ET echauffement simultanement.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EDA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6 etapes : distributions, boxplots outliers, heatmap correlations, desequilibre 88/12 %, scatter vibration x temperature, tendances temporelles.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60795" y="1709928"/>
            <a:ext cx="5255514" cy="421538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227" y="1737360"/>
            <a:ext cx="5200650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91072" y="5943600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Matrice de correlation des variables capteurs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Modeles &amp; evaluation comparative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Modeles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28216" y="1188720"/>
            <a:ext cx="267004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C4.3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 + ecoresponsabilite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1792224"/>
            <a:ext cx="365760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FFFFFF"/>
                </a:solidFill>
                <a:latin typeface="Gilroy"/>
              </a:rPr>
              <a:t>Modele</a:t>
            </a:r>
          </a:p>
        </p:txBody>
      </p:sp>
      <p:sp>
        <p:nvSpPr>
          <p:cNvPr id="9" name="Rectangle 8"/>
          <p:cNvSpPr/>
          <p:nvPr/>
        </p:nvSpPr>
        <p:spPr>
          <a:xfrm>
            <a:off x="4133087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F1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96128" y="1792224"/>
            <a:ext cx="173736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ROC-AUC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92224"/>
            <a:ext cx="146304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Temps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96528" y="1792224"/>
            <a:ext cx="1554480" cy="548640"/>
          </a:xfrm>
          <a:prstGeom prst="rect">
            <a:avLst/>
          </a:prstGeom>
          <a:solidFill>
            <a:srgbClr val="051832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Gilroy"/>
              </a:rPr>
              <a:t>CO2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2340864"/>
            <a:ext cx="365760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LogReg 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33087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128" y="2340864"/>
            <a:ext cx="173736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3488" y="2340864"/>
            <a:ext cx="146304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3.2 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96528" y="2340864"/>
            <a:ext cx="1554480" cy="548640"/>
          </a:xfrm>
          <a:prstGeom prst="rect">
            <a:avLst/>
          </a:prstGeom>
          <a:solidFill>
            <a:srgbClr val="F8F9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0.3 mg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288950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Random Forest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33087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96128" y="2889504"/>
            <a:ext cx="1737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0.952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33488" y="288950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45 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96528" y="288950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8.2 mg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3438144"/>
            <a:ext cx="365760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1" i="0">
                <a:solidFill>
                  <a:srgbClr val="0C78B4"/>
                </a:solidFill>
                <a:latin typeface="Calibri"/>
              </a:rPr>
              <a:t>XGBoost (retenu)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33087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0.928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96128" y="3438144"/>
            <a:ext cx="173736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0.964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33488" y="3438144"/>
            <a:ext cx="146304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35 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96528" y="3438144"/>
            <a:ext cx="1554480" cy="548640"/>
          </a:xfrm>
          <a:prstGeom prst="rect">
            <a:avLst/>
          </a:prstGeom>
          <a:solidFill>
            <a:srgbClr val="E0F0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1" i="0">
                <a:solidFill>
                  <a:srgbClr val="0C78B4"/>
                </a:solidFill>
                <a:latin typeface="Calibri"/>
              </a:rPr>
              <a:t>6.1 mg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5488" y="3986784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l"/>
            <a:r>
              <a:rPr sz="1200" b="0" i="0">
                <a:solidFill>
                  <a:srgbClr val="0D1B33"/>
                </a:solidFill>
                <a:latin typeface="Calibri"/>
              </a:rPr>
              <a:t>MLP 64-32-16 (DL)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33087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0.896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3986784"/>
            <a:ext cx="17373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0.936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33488" y="3986784"/>
            <a:ext cx="14630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18 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3986784"/>
            <a:ext cx="1554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/>
          <a:lstStyle/>
          <a:p>
            <a:pPr algn="ctr"/>
            <a:r>
              <a:rPr sz="1200" b="0" i="0">
                <a:solidFill>
                  <a:srgbClr val="0D1B33"/>
                </a:solidFill>
                <a:latin typeface="Calibri"/>
              </a:rPr>
              <a:t>3.8 mg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773168"/>
            <a:ext cx="1120140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Selection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score = F1 - 0.5 x sigma(F1 en cross-val) -&gt; performance ET stabilite.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Anti-leakage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pipeline sklearn fit sur train uniquement (ADR dedie).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9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250" b="1" i="0">
                <a:solidFill>
                  <a:srgbClr val="0D1B33"/>
                </a:solidFill>
                <a:latin typeface="Gilroy"/>
              </a:rPr>
              <a:t>Ecoresponsabilite  </a:t>
            </a:r>
            <a:r>
              <a:rPr sz="1250" b="0" i="0">
                <a:solidFill>
                  <a:srgbClr val="0D1B33"/>
                </a:solidFill>
                <a:latin typeface="Calibri"/>
              </a:rPr>
              <a:t>CodeCarbon : XGBoost 6.1 mg &lt; RF 8.2 mg pour de meilleures perfs.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Dashboard decisionnel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304288" cy="329184"/>
          </a:xfrm>
          <a:prstGeom prst="roundRect">
            <a:avLst>
              <a:gd name="adj" fmla="val 5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C3.2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Dashboard interactif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394960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Cible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responsable maintenance, pas le data scientist.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Simulation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sliders capteurs -&gt; prediction temps reel + probabilite.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Explication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top variables influentes en langage metier.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Distinct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des visuels EDA du rapport (consigne du sujet).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28032"/>
            <a:ext cx="548640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vibration haute + temperature haute -&gt; risque eleve -&gt; feature importance.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2  |  MAINTENANCE PREDICTIVE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bonus realises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5504688" cy="4279392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FF43B8"/>
                </a:solidFill>
                <a:latin typeface="Gilroy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Donnees simulees (pas de bruit capteur reel)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Pas de dimension temporelle exploitee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Un LSTM sur sequences serait la suite logique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Derive en production -&gt; monitoring + reentrainement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6208" y="1389888"/>
            <a:ext cx="5468112" cy="4279392"/>
          </a:xfrm>
          <a:prstGeom prst="rect">
            <a:avLst/>
          </a:prstGeom>
          <a:solidFill>
            <a:srgbClr val="E8F4FF"/>
          </a:solidFill>
          <a:ln w="12700">
            <a:solidFill>
              <a:srgbClr val="0C7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536192"/>
            <a:ext cx="50292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0C78B4"/>
                </a:solidFill>
                <a:latin typeface="Gilroy"/>
              </a:rPr>
              <a:t>Bonus deja realises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011680"/>
            <a:ext cx="5029200" cy="3429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Multiclass : type de panne predit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Regression : RUL (duree de vie restante)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Calibration des probabilites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050" b="1" i="0">
                <a:solidFill>
                  <a:srgbClr val="0C78B4"/>
                </a:solidFill>
                <a:latin typeface="Calibri"/>
              </a:rPr>
              <a:t>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Tuning des hyperparametres justifie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Cas d'usage &amp; architecture GenAI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02996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C5.1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Cas d'usage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Besoin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recommander un cocktail depuis une envie en langage naturel.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Pourquoi GenAI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les filtres echouent sur « frais, fruite, touche tropicale ».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Comprendre + produire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semantique (retrieval) ET generation (recette personnalisee).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Conformite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thematique alternative validee par l'Annexe I du sujet.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4754880"/>
            <a:ext cx="5486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43B8"/>
                </a:solidFill>
                <a:latin typeface="Gilroy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047488"/>
            <a:ext cx="566928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0D1B33"/>
                </a:solidFill>
                <a:latin typeface="Calibri"/>
              </a:rPr>
              <a:t>Requete -&gt; SBERT all-MiniLM-L6-v2 -&gt; cosinus -&gt; guardrail 0.40 -&gt; cache JSON MD5 -&gt; GPT-2 fine-tune (RAG)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978369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05801"/>
            <a:ext cx="5394960" cy="3468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91072" y="5779008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Interface Speakeasy de L'IA Pero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Solution &amp;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175564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C5.2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Solution GenAI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05088" y="1152144"/>
            <a:ext cx="2999232" cy="43891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Gilroy"/>
              </a:rPr>
              <a:t>DEMO LIVE  -  90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755648"/>
            <a:ext cx="5504688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SBERT all-MiniLM-L6-v2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local, 80 MB, 384 dims, L2-normalise. P@5=0.79 vs TF-IDF 0.41 (+93%). CPU-only, adapte au domaine clos.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GPT-2 fine-tune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117M params, 3 epochs, LR=5e-5 sur 612 recettes. BLEU-4=0.42, ROUGE-L=0.58. Generation bornee par le contexte RAG.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Cache JSON MD5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1 calcul par requete unique. Latence cache hit &lt; 10 ms vs 2.1 s premier appel.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05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350" b="1" i="0">
                <a:solidFill>
                  <a:srgbClr val="0D1B33"/>
                </a:solidFill>
                <a:latin typeface="Gilroy"/>
              </a:rPr>
              <a:t>Guardrail  </a:t>
            </a:r>
            <a:r>
              <a:rPr sz="1350" b="0" i="0">
                <a:solidFill>
                  <a:srgbClr val="0D1B33"/>
                </a:solidFill>
                <a:latin typeface="Calibri"/>
              </a:rPr>
              <a:t>seuil 0.40 (calibre sur 30 requetes labelisees). F1=0.92, Precision=0.95, Recall=0.90.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4846320"/>
            <a:ext cx="5596128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556B8A"/>
                </a:solidFill>
                <a:latin typeface="Calibri"/>
              </a:rPr>
              <a:t>Scenario : « quelque chose de frais et fruite » -&gt; Top-5 + radar ; « repare mon velo » -&gt; refus (score 0.23 &lt; 0.40).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827493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apero-recommendation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4925"/>
            <a:ext cx="5394960" cy="3468188"/>
          </a:xfrm>
          <a:prstGeom prst="rect">
            <a:avLst/>
          </a:prstGeom>
        </p:spPr>
      </p:pic>
      <p:sp>
        <p:nvSpPr>
          <p:cNvPr id="12" name="Rounded Rectangle 11">
            <a:hlinkClick r:id="rId3"/>
          </p:cNvPr>
          <p:cNvSpPr/>
          <p:nvPr/>
        </p:nvSpPr>
        <p:spPr>
          <a:xfrm>
            <a:off x="6291072" y="5623560"/>
            <a:ext cx="5394960" cy="457200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PROJET 3  |  L'IA PERO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Evaluation &amp; risques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" y="1188720"/>
            <a:ext cx="2121408" cy="329184"/>
          </a:xfrm>
          <a:prstGeom prst="roundRect">
            <a:avLst>
              <a:gd name="adj" fmla="val 5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8900" rIns="88900" tIns="0" bIns="0"/>
          <a:lstStyle/>
          <a:p>
            <a:pPr algn="l"/>
            <a:r>
              <a:rPr sz="1050" b="1" i="0">
                <a:solidFill>
                  <a:srgbClr val="FFFFFF"/>
                </a:solidFill>
                <a:latin typeface="Gilroy"/>
              </a:rPr>
              <a:t>C5.3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Evaluation qualite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1737360"/>
            <a:ext cx="5596128" cy="29443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Guardrail F1=0.92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seuil 0.40, Precision=0.95, Recall=0.90. 94% des requetes hors-domaine rejetees (30 cas testes).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Retrieval P@5=0.79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NDCG@5=0.81. Gain +93% vs TF-IDF baseline (0.41). Latence : 45 ms retrieval, &lt; 10 ms cache hit.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Generation BLEU-4=0.42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ROUGE-L=0.58. Coherent avec la litterature recettes (0.35-0.55 typique). 62 tests pytest.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400" b="1" i="0">
                <a:solidFill>
                  <a:srgbClr val="0D1B33"/>
                </a:solidFill>
                <a:latin typeface="Gilroy"/>
              </a:rPr>
              <a:t>Pistes d'amelioration  </a:t>
            </a:r>
            <a:r>
              <a:rPr sz="1400" b="0" i="0">
                <a:solidFill>
                  <a:srgbClr val="0D1B33"/>
                </a:solidFill>
                <a:latin typeface="Calibri"/>
              </a:rPr>
              <a:t>FAISS persistant pour scale 100k+, fine-tuning SBERT domaine, LaBSE/XLM-R pour FR/EN/ES natif.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4736592"/>
            <a:ext cx="5596128" cy="1417320"/>
          </a:xfrm>
          <a:prstGeom prst="rect">
            <a:avLst/>
          </a:prstGeom>
          <a:solidFill>
            <a:srgbClr val="FFF0F8"/>
          </a:solidFill>
          <a:ln w="12700">
            <a:solidFill>
              <a:srgbClr val="FF4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8463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43B8"/>
                </a:solidFill>
                <a:latin typeface="Gilroy"/>
              </a:rPr>
              <a:t>Risques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166360"/>
            <a:ext cx="5212080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0D1B33"/>
                </a:solidFill>
                <a:latin typeface="Calibri"/>
              </a:rPr>
              <a:t>Hallucination (mitigee RAG+cache)  |  requetes FR : -15% perf vs EN  |  biais dataset anglophone  |  usage responsable de l'alcool.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042377"/>
            <a:ext cx="5449824" cy="352305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apero-similarit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2069809"/>
            <a:ext cx="5394960" cy="3468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91072" y="5925312"/>
            <a:ext cx="5394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6B8A"/>
                </a:solidFill>
                <a:latin typeface="Calibri"/>
              </a:rPr>
              <a:t>Scores de similarite + decision du guardrail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Synthese : competences -&gt; preuves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Gold PG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7016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Cassandra query-first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3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3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Medaillon Parquet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71432" y="1353312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71432" y="1353312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54311" y="1444752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1" y="1773936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Resilience testee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API JWT + quotas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74136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74136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7016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Kafka + micro-batch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2783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2783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Polars multi-sources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71432" y="2322576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171432" y="2322576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54311" y="2414016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C2.4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4311" y="2743200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Metriques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5488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Prep fit-train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74136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374136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6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Dashboard Streamlit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3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72783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EDA correlations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71432" y="3291840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71432" y="3291840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54311" y="3383280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54311" y="3712464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Strategie predictive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5488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4 modeles testes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74136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374136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57016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C4.3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57016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Eval + CO2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72783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72783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55664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Cas d'usage NL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71432" y="4261104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9171432" y="4261104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54311" y="4352544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54311" y="4681728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SBERT + RAG Gemini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75488" y="5230368"/>
            <a:ext cx="2788920" cy="841248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75488" y="5230368"/>
            <a:ext cx="82296" cy="84124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5321808"/>
            <a:ext cx="2514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C5.3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5650992"/>
            <a:ext cx="25146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D1B33"/>
                </a:solidFill>
                <a:latin typeface="Calibri"/>
              </a:rPr>
              <a:t>Guardrail 0.40 F1=0.92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5488" y="632764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CB487"/>
                </a:solidFill>
                <a:latin typeface="Calibri"/>
              </a:rPr>
              <a:t>17 competences C1.1 -&gt; C5.3 couvertes, chacune avec une preuve dans le code.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Limites &amp; ameliorations transverses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8" y="1389888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8" y="1389888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81328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Haute disponibilite reelle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1481328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Passer du mono-noeud a un cluster 3 noeuds (PG + Cassandra).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2340864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2340864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32304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Dimension temporelle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432304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LSTM sur sequences capteurs pour la maintenance predictive.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" y="3291840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5488" y="3291840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383280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Base vectorielle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36592" y="3383280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pgvector / FAISS persistant au lieu de la matrice memoire pour L'IA Pero.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" y="4242816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5488" y="4242816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34256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Monitoring &amp; derive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36592" y="4334256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Detection de drift + reentrainement automatise en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" y="5193792"/>
            <a:ext cx="11228832" cy="868680"/>
          </a:xfrm>
          <a:prstGeom prst="rect">
            <a:avLst/>
          </a:prstGeom>
          <a:solidFill>
            <a:srgbClr val="F8F9FF"/>
          </a:solidFill>
          <a:ln w="1270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5193792"/>
            <a:ext cx="82296" cy="86868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85232"/>
            <a:ext cx="38404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63767"/>
                </a:solidFill>
                <a:latin typeface="Gilroy"/>
              </a:rPr>
              <a:t>CI/CD complet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36592" y="5285232"/>
            <a:ext cx="6766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D1B33"/>
                </a:solidFill>
                <a:latin typeface="Calibri"/>
              </a:rPr>
              <a:t>Pipeline GitHub Actions (tests + build + deploy) sur les 3 repos.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88" y="6492240"/>
            <a:ext cx="11231575" cy="10972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653796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Adam Beloucif  &amp;  Emilien Morice  |  RNCP 40875  |  EFREI Villejuif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37960"/>
            <a:ext cx="731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556B8A"/>
                </a:solidFill>
                <a:latin typeface="Calibri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8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0584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ilroy"/>
              </a:rPr>
              <a:t>Conclusion &amp; apprentissages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5029200" cy="45720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27632"/>
            <a:ext cx="10515600" cy="2423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Brancher tests et metriques des le jour 1, pas en consolidation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Justifier chaque choix technique par un besoin metier concret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Documenter les limites = posture professionnelle, pas un aveu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00" b="1" i="0">
                <a:solidFill>
                  <a:srgbClr val="FF43B8"/>
                </a:solidFill>
                <a:latin typeface="Calibri"/>
              </a:rPr>
              <a:t>  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Une chaine complete : data engineering -&gt; data science -&gt; GenAI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79392"/>
            <a:ext cx="10058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6BA3D8"/>
                </a:solidFill>
                <a:latin typeface="Gilroy"/>
              </a:rPr>
              <a:t>Les 3 projets en un clic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502920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163767"/>
                </a:solidFill>
                <a:latin typeface="Gilroy"/>
              </a:rPr>
              <a:t>Urban Data Explorer -&gt;</a:t>
            </a:r>
          </a:p>
        </p:txBody>
      </p:sp>
      <p:sp>
        <p:nvSpPr>
          <p:cNvPr id="9" name="Rounded Rectangle 8">
            <a:hlinkClick r:id="rId3"/>
          </p:cNvPr>
          <p:cNvSpPr/>
          <p:nvPr/>
        </p:nvSpPr>
        <p:spPr>
          <a:xfrm>
            <a:off x="4187952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0C78B4"/>
                </a:solidFill>
                <a:latin typeface="Gilroy"/>
              </a:rPr>
              <a:t>Maintenance Predictive -&gt;</a:t>
            </a:r>
          </a:p>
        </p:txBody>
      </p:sp>
      <p:sp>
        <p:nvSpPr>
          <p:cNvPr id="10" name="Rounded Rectangle 9">
            <a:hlinkClick r:id="rId4"/>
          </p:cNvPr>
          <p:cNvSpPr/>
          <p:nvPr/>
        </p:nvSpPr>
        <p:spPr>
          <a:xfrm>
            <a:off x="7882127" y="4700016"/>
            <a:ext cx="3547872" cy="621792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L'IA Pero -&gt;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742432"/>
            <a:ext cx="105156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50" b="1" i="0">
                <a:solidFill>
                  <a:srgbClr val="FFFFFF"/>
                </a:solidFill>
                <a:latin typeface="Gilroy"/>
              </a:rPr>
              <a:t>Merci de votre attention  |  Adam Beloucif  &amp;  Emilien Morice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Urban Data Explorer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de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rban-district-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d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2492393"/>
            <a:ext cx="3511296" cy="2257261"/>
          </a:xfrm>
          <a:prstGeom prst="rect">
            <a:avLst/>
          </a:prstGeom>
        </p:spPr>
      </p:pic>
      <p:sp>
        <p:nvSpPr>
          <p:cNvPr id="12" name="Rounded Rectangle 11">
            <a:hlinkClick r:id="rId5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1637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Maintenance Predictive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2393"/>
            <a:ext cx="3511296" cy="225726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306824" y="2464961"/>
            <a:ext cx="3566160" cy="2312125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intenance-dashboard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256" y="2492393"/>
            <a:ext cx="3511296" cy="225726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65592" y="2715768"/>
            <a:ext cx="356616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onthly_tren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3024" y="2743200"/>
            <a:ext cx="3511296" cy="1755648"/>
          </a:xfrm>
          <a:prstGeom prst="rect">
            <a:avLst/>
          </a:prstGeom>
        </p:spPr>
      </p:pic>
      <p:sp>
        <p:nvSpPr>
          <p:cNvPr id="12" name="Rounded Rectangle 11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0C7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828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FF43B8"/>
                </a:solidFill>
                <a:latin typeface="Gilroy"/>
              </a:rPr>
              <a:t>ANNEXE  |  BACKUP DEMO (HORS DECOMPTE)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420624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051832"/>
                </a:solidFill>
                <a:latin typeface="Gilroy"/>
              </a:rPr>
              <a:t>L'IA Pero  -  captures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078992"/>
            <a:ext cx="11231575" cy="16459"/>
          </a:xfrm>
          <a:prstGeom prst="rect">
            <a:avLst/>
          </a:prstGeom>
          <a:solidFill>
            <a:srgbClr val="D8E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48056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apero-speakeasy-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72234"/>
            <a:ext cx="5440679" cy="349757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36207" y="1844802"/>
            <a:ext cx="5495543" cy="3552443"/>
          </a:xfrm>
          <a:prstGeom prst="rect">
            <a:avLst/>
          </a:prstGeom>
          <a:solidFill>
            <a:srgbClr val="FFFFFF"/>
          </a:solidFill>
          <a:ln w="10160">
            <a:solidFill>
              <a:srgbClr val="D8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apero-recommendation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72234"/>
            <a:ext cx="5440679" cy="3497579"/>
          </a:xfrm>
          <a:prstGeom prst="rect">
            <a:avLst/>
          </a:prstGeom>
        </p:spPr>
      </p:pic>
      <p:sp>
        <p:nvSpPr>
          <p:cNvPr id="10" name="Rounded Rectangle 9">
            <a:hlinkClick r:id="rId4"/>
          </p:cNvPr>
          <p:cNvSpPr/>
          <p:nvPr/>
        </p:nvSpPr>
        <p:spPr>
          <a:xfrm>
            <a:off x="4919472" y="6144768"/>
            <a:ext cx="2423160" cy="420624"/>
          </a:xfrm>
          <a:prstGeom prst="roundRect">
            <a:avLst>
              <a:gd name="adj" fmla="val 30000"/>
            </a:avLst>
          </a:prstGeom>
          <a:solidFill>
            <a:srgbClr val="FF4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Gilroy"/>
              </a:rPr>
              <a:t>Ouvrir le repo -&gt;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