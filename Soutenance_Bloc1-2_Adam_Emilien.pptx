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dam-Blf/urban-data-explorer" TargetMode="External"/><Relationship Id="rId3" Type="http://schemas.openxmlformats.org/officeDocument/2006/relationships/hyperlink" Target="https://github.com/Adam-Blf/maintenance-predictive-industrielle" TargetMode="External"/><Relationship Id="rId4" Type="http://schemas.openxmlformats.org/officeDocument/2006/relationships/hyperlink" Target="https://github.com/Adam-Blf/ia-per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urban.beloucif.com" TargetMode="External"/><Relationship Id="rId4" Type="http://schemas.openxmlformats.org/officeDocument/2006/relationships/hyperlink" Target="https://github.com/Adam-Blf/urban-data-explorer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github.com/Adam-Blf/urban-data-explorer" TargetMode="External"/><Relationship Id="rId4" Type="http://schemas.openxmlformats.org/officeDocument/2006/relationships/hyperlink" Target="https://urban.beloucif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github.com/Adam-Blf/maintenance-predictive-industrielle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github.com/Adam-Blf/ia-pero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dam-Blf/urban-data-explorer" TargetMode="External"/><Relationship Id="rId3" Type="http://schemas.openxmlformats.org/officeDocument/2006/relationships/hyperlink" Target="https://github.com/Adam-Blf/maintenance-predictive-industrielle" TargetMode="External"/><Relationship Id="rId4" Type="http://schemas.openxmlformats.org/officeDocument/2006/relationships/hyperlink" Target="https://github.com/Adam-Blf/ia-pero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hyperlink" Target="https://github.com/Adam-Blf/urban-data-explorer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hyperlink" Target="https://github.com/Adam-Blf/maintenance-predictive-industrielle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github.com/Adam-Blf/ia-per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057400"/>
            <a:ext cx="4572000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3C5FD"/>
                </a:solidFill>
                <a:latin typeface="Calibri"/>
              </a:rPr>
              <a:t>Soutenance de fin d'etudes  ·  M1 Data Engineering &amp;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Bloc 1 &amp; 2
RNCPP 40875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93C5FD"/>
                </a:solidFill>
                <a:latin typeface="Calibri"/>
              </a:rPr>
              <a:t>Expert en Ingenierie de Donnees  -  De la donnee brute a la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49039"/>
            <a:ext cx="502920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Adam Beloucif  &amp;  Emilien Morice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26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C5FD"/>
                </a:solidFill>
                <a:latin typeface="Calibri"/>
              </a:rPr>
              <a:t>Session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Contexte &amp; problematique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D4ED8"/>
                </a:solidFill>
                <a:latin typeface="Calibri"/>
              </a:rPr>
              <a:t>Fil rouge  -  transformer la donnee en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0512"/>
            <a:ext cx="10972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4748B"/>
                </a:solidFill>
                <a:latin typeface="Calibri"/>
              </a:rPr>
              <a:t>Trois projets, trois maillons complementaires d'une meme chaine de valeur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3611880" cy="25146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423160"/>
            <a:ext cx="3611880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33472"/>
            <a:ext cx="32004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D4ED8"/>
                </a:solidFill>
                <a:latin typeface="Calibri"/>
              </a:rPr>
              <a:t>1  Data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Construire l'architecture
qui collecte, stocke et
expose la donnee.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423160"/>
            <a:ext cx="3611880" cy="25146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423160"/>
            <a:ext cx="3611880" cy="73152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33472"/>
            <a:ext cx="32004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47857"/>
                </a:solidFill>
                <a:latin typeface="Calibri"/>
              </a:rPr>
              <a:t>2  Data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82112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Modeliser pour predire
et outiller la decision
metier.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2423160"/>
            <a:ext cx="3611880" cy="25146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2423160"/>
            <a:ext cx="3611880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633472"/>
            <a:ext cx="32004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C3AED"/>
                </a:solidFill>
                <a:latin typeface="Calibri"/>
              </a:rPr>
              <a:t>3  IA Generative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82112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Comprendre le langage
naturel et generer une
reponse personnalisee.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12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64748B"/>
                </a:solidFill>
                <a:latin typeface="Calibri"/>
              </a:rPr>
              <a:t>Probleme commun : une donnee non exploitee n'a aucune valeur. Chaque projet repond a un besoin metier concret avec preuves techniques verifiables.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Vue d'ensemble des 3 projets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201400" cy="1417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91440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4ED8"/>
                </a:solidFill>
                <a:latin typeface="Calibri"/>
              </a:rPr>
              <a:t>Urban Data 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8366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Bloc 1  -  C1.1 - C2.4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76272"/>
            <a:ext cx="79552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Plateforme data du logement parisien. 24 sources Open Data, architecture medaillon, PostgreSQL etoile, Cassandra, Kafka, API FastAPI securisee, dashboard MapLibre.</a:t>
            </a:r>
          </a:p>
        </p:txBody>
      </p:sp>
      <p:sp>
        <p:nvSpPr>
          <p:cNvPr id="11" name="Rounded Rectangle 10">
            <a:hlinkClick r:id="rId2"/>
          </p:cNvPr>
          <p:cNvSpPr/>
          <p:nvPr/>
        </p:nvSpPr>
        <p:spPr>
          <a:xfrm>
            <a:off x="9189720" y="1792224"/>
            <a:ext cx="2240280" cy="512064"/>
          </a:xfrm>
          <a:prstGeom prst="roundRect">
            <a:avLst>
              <a:gd name="adj" fmla="val 2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Ouvrir le repo  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26080"/>
            <a:ext cx="11201400" cy="1417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26080"/>
            <a:ext cx="91440" cy="14173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35808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47857"/>
                </a:solidFill>
                <a:latin typeface="Calibri"/>
              </a:rPr>
              <a:t>Maintenance Predictive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643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Bloc 2  -  C3.1 - C4.3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49040"/>
            <a:ext cx="79552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Prediction de panne machine sous 24 h depuis capteurs IoT. 4 modeles compares (dont Deep Learning), mesure CO2 CodeCarbon, dashboard decisionnel Streamlit.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9189720" y="3364992"/>
            <a:ext cx="2240280" cy="512064"/>
          </a:xfrm>
          <a:prstGeom prst="roundRect">
            <a:avLst>
              <a:gd name="adj" fmla="val 28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Ouvrir le repo  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98848"/>
            <a:ext cx="11201400" cy="1417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49884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08576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7C3AED"/>
                </a:solidFill>
                <a:latin typeface="Calibri"/>
              </a:rPr>
              <a:t>L'IA Pero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Bloc 2  -  C5.1 - C5.3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21808"/>
            <a:ext cx="79552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Recommandation de cocktails par IA semantique. SBERT 384 dims, similarite cosinus, guardrail 0.35, RAG + Gemini avec cache, interface Streamlit Speakeasy.</a:t>
            </a:r>
          </a:p>
        </p:txBody>
      </p:sp>
      <p:sp>
        <p:nvSpPr>
          <p:cNvPr id="23" name="Rounded Rectangle 22">
            <a:hlinkClick r:id="rId4"/>
          </p:cNvPr>
          <p:cNvSpPr/>
          <p:nvPr/>
        </p:nvSpPr>
        <p:spPr>
          <a:xfrm>
            <a:off x="9189720" y="4937760"/>
            <a:ext cx="2240280" cy="512064"/>
          </a:xfrm>
          <a:prstGeom prst="roundRect">
            <a:avLst>
              <a:gd name="adj" fmla="val 2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Ouvrir le repo  -&gt;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Contributions individuelles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972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Presentation collective, evaluation individualisee. Repartition par projet 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2651760" cy="457200"/>
          </a:xfrm>
          <a:prstGeom prst="rect">
            <a:avLst/>
          </a:prstGeom>
          <a:solidFill>
            <a:srgbClr val="1D4ED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Projet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810512"/>
            <a:ext cx="4297680" cy="457200"/>
          </a:xfrm>
          <a:prstGeom prst="rect">
            <a:avLst/>
          </a:prstGeom>
          <a:solidFill>
            <a:srgbClr val="1D4ED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Adam Beloucif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810512"/>
            <a:ext cx="4251960" cy="457200"/>
          </a:xfrm>
          <a:prstGeom prst="rect">
            <a:avLst/>
          </a:prstGeom>
          <a:solidFill>
            <a:srgbClr val="1D4ED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Emilien Morice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2651760" cy="93268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Urban Data Explorer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2267712"/>
            <a:ext cx="4297680" cy="93268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Architecture data, API securisee, modele PG/Cassandra,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2267712"/>
            <a:ext cx="4251960" cy="93268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Sourcing &amp; qualite des 24 sources, front cartographique, data prep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26517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Maintenance Predictive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3200400"/>
            <a:ext cx="4297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Modelisation 4 modeles, selection XGBoost, dashboard 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3200400"/>
            <a:ext cx="42519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EDA, preparation des donnees, analyse des correlations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33087"/>
            <a:ext cx="2651760" cy="93268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L'IA Pero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4133087"/>
            <a:ext cx="4297680" cy="93268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Backend RAG/SBERT, guardrail semantique, cache, evaluation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4133087"/>
            <a:ext cx="4251960" cy="93268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Referentiel cocktails, scenarios d'usage, tests des seuils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43600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Chaque membre porte au moins un choix technique et en connait les limites (critere d'individualisation du jury).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Calibri"/>
              </a:rPr>
              <a:t>PROJET 1  -  URBAN DATA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Besoin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5394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Besoin metier  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explorer le marche du logement parisien en croisant 24 sources Open Data heterogenes.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Architecture medaillon  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Bronze (brut Parquet) -&gt; Silver (normalise, geocode) -&gt; Gold (datamarts).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Stockage dual  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PostgreSQL en etoile pour l'analytique, Cassandra query-first pour le streaming.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Exposition  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API FastAPI securisee -&gt; dashboard React / MapLibre.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48" y="1589913"/>
            <a:ext cx="5632703" cy="354101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de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17345"/>
            <a:ext cx="5577840" cy="34861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394960"/>
            <a:ext cx="5577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Dashboard Urban Data Explorer  -  choroplethe prix m2</a:t>
            </a:r>
          </a:p>
        </p:txBody>
      </p:sp>
      <p:sp>
        <p:nvSpPr>
          <p:cNvPr id="10" name="Rounded Rectangle 9">
            <a:hlinkClick r:id="rId3"/>
          </p:cNvPr>
          <p:cNvSpPr/>
          <p:nvPr/>
        </p:nvSpPr>
        <p:spPr>
          <a:xfrm>
            <a:off x="502920" y="5870448"/>
            <a:ext cx="2240280" cy="475488"/>
          </a:xfrm>
          <a:prstGeom prst="roundRect">
            <a:avLst>
              <a:gd name="adj" fmla="val 2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Demo live  -&gt;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2926080" y="5870448"/>
            <a:ext cx="2331720" cy="475488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Repo GitHub  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Calibri"/>
              </a:rPr>
              <a:t>PROJET 1  -  URBAN DATA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Bases de donnees  SQL vs NoSQL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1751076" cy="34747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C1.1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Relationnelle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18588" y="1207008"/>
            <a:ext cx="982980" cy="34747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C1.2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NoSQL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384048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56231"/>
            <a:ext cx="5120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PostgreSQL  -  schema en etoile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502920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Fait + dimensions (arrondissement, temps), FK et cles composees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Index sur les axes de requete -&gt; p95 &lt; 4 ms en jointure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Contraintes NOT NULL / integrite referentielle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Test de charge : scripts/test_load_postgres.py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Besoin : agregats analytiques par arrondissement x mois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440680" cy="384048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440680" cy="4572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856231"/>
            <a:ext cx="5120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Cassandra  -  query-first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59152"/>
            <a:ext cx="502920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Partition par event_type, clustering event_time DESC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TTL 7 jours -&gt; la donnee chaude expire seule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Deux patterns d'acces : par type et par arrondissement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Adapte aux evenements semi-structures a forte velocite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PG aurait impose un schema rigide + purges manuelles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Calibri"/>
              </a:rPr>
              <a:t>PROJET 1  -  URBAN DATA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Data Lake &amp; streaming temps 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1367028" cy="34747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C1.3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Data Lake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4540" y="1207008"/>
            <a:ext cx="1367028" cy="34747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C2.2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54864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24 sources / 8 familles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CSV, GeoJSON, API -&gt; atterrissage Bronze en Parquet.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Silver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normalisation des codes, geocodage point-in-polygon IRIS.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Gold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datamarts dashboard &amp; timeline, format colonnaire optimise.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Kafka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producteur / consommateur temps reel evenement par evenement.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Micro-batch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streaming/microbatch.py -&gt; fenetres tumbling 10 s (count, moyenne).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778507"/>
            <a:ext cx="5449824" cy="2752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frastructures_stacke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05939"/>
            <a:ext cx="5394960" cy="2697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78928" y="4636007"/>
            <a:ext cx="2655824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eocoding_integ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360" y="4663440"/>
            <a:ext cx="260096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614476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Repartition des sources + integrite du geocodage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Calibri"/>
              </a:rPr>
              <a:t>PROJET 1  -  URBAN DATA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API &amp; securite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1751076" cy="34747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C2.1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API securisee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170432"/>
            <a:ext cx="2971800" cy="438912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DEMO LIVE  -  90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548640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JWT HS256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secret en variable d'env (jamais commite), roles viewer / admin.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401 vs 403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authentification et autorisation differenciees.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Quotas par IP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120 anonyme / 600 authentifie req/min -&gt; 429 si depassement.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Swagger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documentation interactive live sur /docs.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CORS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restreint a l'origine du front, donnees Open Data (RGPD by design).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66360"/>
            <a:ext cx="548640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Calibri"/>
              </a:rPr>
              <a:t>Scenario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68112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Dashboard -&gt; clic 11e arr. -&gt; comparaison 11e/16e -&gt; /docs -&gt; curl token -&gt; 403 sans role admin.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8137" y="1755648"/>
            <a:ext cx="2137404" cy="37124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de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569" y="1783080"/>
            <a:ext cx="2082540" cy="3657600"/>
          </a:xfrm>
          <a:prstGeom prst="rect">
            <a:avLst/>
          </a:prstGeom>
        </p:spPr>
      </p:pic>
      <p:sp>
        <p:nvSpPr>
          <p:cNvPr id="13" name="Rounded Rectangle 12">
            <a:hlinkClick r:id="rId3"/>
          </p:cNvPr>
          <p:cNvSpPr/>
          <p:nvPr/>
        </p:nvSpPr>
        <p:spPr>
          <a:xfrm>
            <a:off x="6309360" y="5650992"/>
            <a:ext cx="2377440" cy="475488"/>
          </a:xfrm>
          <a:prstGeom prst="roundRect">
            <a:avLst>
              <a:gd name="adj" fmla="val 2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Ouvrir le repo  -&gt;</a:t>
            </a:r>
          </a:p>
        </p:txBody>
      </p:sp>
      <p:sp>
        <p:nvSpPr>
          <p:cNvPr id="14" name="Rounded Rectangle 13">
            <a:hlinkClick r:id="rId4"/>
          </p:cNvPr>
          <p:cNvSpPr/>
          <p:nvPr/>
        </p:nvSpPr>
        <p:spPr>
          <a:xfrm>
            <a:off x="8869680" y="5650992"/>
            <a:ext cx="2286000" cy="475488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Demo live  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Calibri"/>
              </a:rPr>
              <a:t>PROJET 1  -  URBAN DATA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Performance, resilience &amp; limites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C1.4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Resilience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30552" y="1207008"/>
            <a:ext cx="1847088" cy="34747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C2.4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Perf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115568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Metriques pipeline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etl/metrics.py -&gt; duree, lignes, octets, lignes/sec exposes via GET /pipeline/metrics.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Optimisations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Polars (Rust) vs pandas, Parquet colonnaire, lru_cache sur le geocodage inverse.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Resilience testee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scripts/test_resilience.py : kill conteneur Postgres -&gt; fallback parquet -&gt; restart.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Compose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healthchecks, restart unless-stopped, depends_on service_healthy.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315968"/>
            <a:ext cx="11201400" cy="1600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62272"/>
            <a:ext cx="10058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91C1C"/>
                </a:solidFill>
                <a:latin typeface="Calibri"/>
              </a:rPr>
              <a:t>Limites assumees  &amp; 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Demo mono-noeud (replication_factor 1), pas de haute disponibilite reelle. Chemin documente vers un cluster 3 noeuds + replication Cassandra lineaire + API stateless replicable.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47857"/>
                </a:solidFill>
                <a:latin typeface="Calibri"/>
              </a:rPr>
              <a:t>PROJET 2  -  MAINTENANCE PREDICTIVE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Question metier &amp; strategie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2999232" cy="34747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C4.1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Strategie d'integration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64008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Probleme  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une panne non planifiee coute 5 a 50 k EUR/h d'arret de ligne.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Corrective  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on repare apres la casse -&gt; cout maximal, imprevu.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Preventive  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entretien calendaire -&gt; sur-maintenance, pieces gaspillees.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Predictive (cible)  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predire la panne sous 24 h -&gt; intervenir au bon moment.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783080"/>
            <a:ext cx="4389120" cy="34747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920240"/>
            <a:ext cx="3931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47857"/>
                </a:solidFill>
                <a:latin typeface="Calibri"/>
              </a:rPr>
              <a:t>Feuille de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377440"/>
            <a:ext cx="402336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Capteurs IoT existants -&gt; collecte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Modele predictif + seuil de decision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Alerte responsable maintenance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Boucle de reentrainement periodique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1947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47857"/>
                </a:solidFill>
                <a:latin typeface="Calibri"/>
              </a:rPr>
              <a:t>Cout corrective ~100 EUR/h  -&gt;  predictive ~20 EUR/h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47857"/>
                </a:solidFill>
                <a:latin typeface="Calibri"/>
              </a:rPr>
              <a:t>PROJET 2  -  MAINTENANCE PREDICTIVE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Donnees &amp; analyse exploratoire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1559052" cy="34747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C3.1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Preparation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26564" y="1207008"/>
            <a:ext cx="790956" cy="34747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C3.3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557784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Dataset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Kaggle industrial_machine_maintenance  -  24 042 lignes x 15 variables.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Cible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failure_within_24h (classe rare -&gt; desequilibre).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Nettoyage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imputation mediane (fit train), winsorisation outliers capteurs.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Insight cle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vibration_rms et temperature_motor sont les plus correlees a la panne.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Coherence physique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l'usure mecanique genere vibration ET echauffement.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7658" y="1728216"/>
            <a:ext cx="5198364" cy="41696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090" y="1755648"/>
            <a:ext cx="51435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897880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Matrice de correlation des variables capteurs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47857"/>
                </a:solidFill>
                <a:latin typeface="Calibri"/>
              </a:rPr>
              <a:t>PROJET 2  -  MAINTENANCE PREDICTIVE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Modeles &amp; evaluation comparative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1175004" cy="34747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C4.2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Modeles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42515" y="1207008"/>
            <a:ext cx="2807208" cy="34747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C4.3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Eval + ecoresponsabilite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3657600" cy="548640"/>
          </a:xfrm>
          <a:prstGeom prst="rect">
            <a:avLst/>
          </a:prstGeom>
          <a:solidFill>
            <a:srgbClr val="04785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Modele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810512"/>
            <a:ext cx="1463040" cy="548640"/>
          </a:xfrm>
          <a:prstGeom prst="rect">
            <a:avLst/>
          </a:prstGeom>
          <a:solidFill>
            <a:srgbClr val="04785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810512"/>
            <a:ext cx="1737360" cy="548640"/>
          </a:xfrm>
          <a:prstGeom prst="rect">
            <a:avLst/>
          </a:prstGeom>
          <a:solidFill>
            <a:srgbClr val="04785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810512"/>
            <a:ext cx="1463040" cy="548640"/>
          </a:xfrm>
          <a:prstGeom prst="rect">
            <a:avLst/>
          </a:prstGeom>
          <a:solidFill>
            <a:srgbClr val="04785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Temps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810512"/>
            <a:ext cx="1554480" cy="548640"/>
          </a:xfrm>
          <a:prstGeom prst="rect">
            <a:avLst/>
          </a:prstGeom>
          <a:solidFill>
            <a:srgbClr val="04785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CO2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59152"/>
            <a:ext cx="3657600" cy="5486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LogReg (baseline)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2359152"/>
            <a:ext cx="1463040" cy="5486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0" i="0">
                <a:solidFill>
                  <a:srgbClr val="0F172A"/>
                </a:solidFill>
                <a:latin typeface="Calibri"/>
              </a:rPr>
              <a:t>0.865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2359152"/>
            <a:ext cx="1737360" cy="5486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0" i="0">
                <a:solidFill>
                  <a:srgbClr val="0F172A"/>
                </a:solidFill>
                <a:latin typeface="Calibri"/>
              </a:rPr>
              <a:t>0.914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2359152"/>
            <a:ext cx="1463040" cy="5486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0" i="0">
                <a:solidFill>
                  <a:srgbClr val="0F172A"/>
                </a:solidFill>
                <a:latin typeface="Calibri"/>
              </a:rPr>
              <a:t>3.2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2359152"/>
            <a:ext cx="1554480" cy="5486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0" i="0">
                <a:solidFill>
                  <a:srgbClr val="0F172A"/>
                </a:solidFill>
                <a:latin typeface="Calibri"/>
              </a:rPr>
              <a:t>0.3 mg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07792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Random Forest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2907792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0" i="0">
                <a:solidFill>
                  <a:srgbClr val="0F172A"/>
                </a:solidFill>
                <a:latin typeface="Calibri"/>
              </a:rPr>
              <a:t>0.910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0" y="2907792"/>
            <a:ext cx="1737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0" i="0">
                <a:solidFill>
                  <a:srgbClr val="0F172A"/>
                </a:solidFill>
                <a:latin typeface="Calibri"/>
              </a:rPr>
              <a:t>0.952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2907792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0" i="0">
                <a:solidFill>
                  <a:srgbClr val="0F172A"/>
                </a:solidFill>
                <a:latin typeface="Calibri"/>
              </a:rPr>
              <a:t>45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2907792"/>
            <a:ext cx="1554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0" i="0">
                <a:solidFill>
                  <a:srgbClr val="0F172A"/>
                </a:solidFill>
                <a:latin typeface="Calibri"/>
              </a:rPr>
              <a:t>8.2 mg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56432"/>
            <a:ext cx="3657600" cy="548640"/>
          </a:xfrm>
          <a:prstGeom prst="rect">
            <a:avLst/>
          </a:prstGeom>
          <a:solidFill>
            <a:srgbClr val="D1FAE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1250" b="1" i="0">
                <a:solidFill>
                  <a:srgbClr val="047857"/>
                </a:solidFill>
                <a:latin typeface="Calibri"/>
              </a:rPr>
              <a:t>XGBoost (retenu)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456432"/>
            <a:ext cx="1463040" cy="548640"/>
          </a:xfrm>
          <a:prstGeom prst="rect">
            <a:avLst/>
          </a:prstGeom>
          <a:solidFill>
            <a:srgbClr val="D1FAE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1" i="0">
                <a:solidFill>
                  <a:srgbClr val="047857"/>
                </a:solidFill>
                <a:latin typeface="Calibri"/>
              </a:rPr>
              <a:t>0.928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23560" y="3456432"/>
            <a:ext cx="1737360" cy="548640"/>
          </a:xfrm>
          <a:prstGeom prst="rect">
            <a:avLst/>
          </a:prstGeom>
          <a:solidFill>
            <a:srgbClr val="D1FAE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1" i="0">
                <a:solidFill>
                  <a:srgbClr val="047857"/>
                </a:solidFill>
                <a:latin typeface="Calibri"/>
              </a:rPr>
              <a:t>0.964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3456432"/>
            <a:ext cx="1463040" cy="548640"/>
          </a:xfrm>
          <a:prstGeom prst="rect">
            <a:avLst/>
          </a:prstGeom>
          <a:solidFill>
            <a:srgbClr val="D1FAE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1" i="0">
                <a:solidFill>
                  <a:srgbClr val="047857"/>
                </a:solidFill>
                <a:latin typeface="Calibri"/>
              </a:rPr>
              <a:t>35 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3456432"/>
            <a:ext cx="1554480" cy="548640"/>
          </a:xfrm>
          <a:prstGeom prst="rect">
            <a:avLst/>
          </a:prstGeom>
          <a:solidFill>
            <a:srgbClr val="D1FAE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1" i="0">
                <a:solidFill>
                  <a:srgbClr val="047857"/>
                </a:solidFill>
                <a:latin typeface="Calibri"/>
              </a:rPr>
              <a:t>6.1 mg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005072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MLP 64-32-16 (DL)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4005072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0" i="0">
                <a:solidFill>
                  <a:srgbClr val="0F172A"/>
                </a:solidFill>
                <a:latin typeface="Calibri"/>
              </a:rPr>
              <a:t>0.896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60" y="4005072"/>
            <a:ext cx="1737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0" i="0">
                <a:solidFill>
                  <a:srgbClr val="0F172A"/>
                </a:solidFill>
                <a:latin typeface="Calibri"/>
              </a:rPr>
              <a:t>0.936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4005072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0" i="0">
                <a:solidFill>
                  <a:srgbClr val="0F172A"/>
                </a:solidFill>
                <a:latin typeface="Calibri"/>
              </a:rPr>
              <a:t>18 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3960" y="4005072"/>
            <a:ext cx="1554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250" b="0" i="0">
                <a:solidFill>
                  <a:srgbClr val="0F172A"/>
                </a:solidFill>
                <a:latin typeface="Calibri"/>
              </a:rPr>
              <a:t>3.8 mg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800600"/>
            <a:ext cx="11155680" cy="1572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Selection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score = F1 - 0.5 * s(F1 en cross-val) -&gt; performance ET stabilite.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Anti-leakage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pipeline sklearn fit sur train uniquement (ADR dedie).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Ecoresponsabilite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CodeCarbon : XGBoost 6.1 mg &lt; RF 8.2 mg pour de meilleures perfs.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47857"/>
                </a:solidFill>
                <a:latin typeface="Calibri"/>
              </a:rPr>
              <a:t>PROJET 2  -  MAINTENANCE PREDICTIVE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Dashboard decisionnel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C3.2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Dashboard interactif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170432"/>
            <a:ext cx="2971800" cy="438912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DEMO LIVE  -  90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53949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Cible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responsable maintenance, pas le data scientist.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Simulation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sliders capteurs -&gt; prediction temps reel + probabilite.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Explication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top variables influentes en langage metier.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Distinct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des visuels EDA du rapport (consigne du sujet).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4632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Scenario : vibration haute + temperature haute -&gt; risque eleve -&gt; feature importance.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1928" y="2067115"/>
            <a:ext cx="5449824" cy="30895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intenance-dashboard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94547"/>
            <a:ext cx="5394960" cy="3034665"/>
          </a:xfrm>
          <a:prstGeom prst="rect">
            <a:avLst/>
          </a:prstGeom>
        </p:spPr>
      </p:pic>
      <p:sp>
        <p:nvSpPr>
          <p:cNvPr id="12" name="Rounded Rectangle 11">
            <a:hlinkClick r:id="rId3"/>
          </p:cNvPr>
          <p:cNvSpPr/>
          <p:nvPr/>
        </p:nvSpPr>
        <p:spPr>
          <a:xfrm>
            <a:off x="6309360" y="5650992"/>
            <a:ext cx="5394960" cy="475488"/>
          </a:xfrm>
          <a:prstGeom prst="roundRect">
            <a:avLst>
              <a:gd name="adj" fmla="val 28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Ouvrir le repo  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47857"/>
                </a:solidFill>
                <a:latin typeface="Calibri"/>
              </a:rPr>
              <a:t>PROJET 2  -  MAINTENANCE PREDICTIVE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Limites &amp; bonus realises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0" cy="4251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91C1C"/>
                </a:solidFill>
                <a:latin typeface="Calibri"/>
              </a:rPr>
              <a:t>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5029200" cy="3429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 i="0">
                <a:solidFill>
                  <a:srgbClr val="B91C1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Donnees simulees (pas de bruit capteur reel)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 i="0">
                <a:solidFill>
                  <a:srgbClr val="B91C1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Pas de dimension temporelle exploitee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 i="0">
                <a:solidFill>
                  <a:srgbClr val="B91C1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Un LSTM sur sequences serait la suite logique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 i="0">
                <a:solidFill>
                  <a:srgbClr val="B91C1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Derive en production -&gt; monitoring + reentrainement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440680" cy="4251960"/>
          </a:xfrm>
          <a:prstGeom prst="rect">
            <a:avLst/>
          </a:prstGeom>
          <a:solidFill>
            <a:srgbClr val="D1FAE5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47857"/>
                </a:solidFill>
                <a:latin typeface="Calibri"/>
              </a:rPr>
              <a:t>Bonus deja realises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29968"/>
            <a:ext cx="5029200" cy="3429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Multiclass : type de panne predit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Regression : RUL (duree de vie restante)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Calibration des probabilites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 i="0">
                <a:solidFill>
                  <a:srgbClr val="047857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Tuning des hyperparametres justifie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C3AED"/>
                </a:solidFill>
                <a:latin typeface="Calibri"/>
              </a:rPr>
              <a:t>PROJET 3  -  L'IA PERO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Cas d'usage &amp; architecture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2135124" cy="34747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C5.1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Cas d'usage GenAI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5778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Besoin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recommander un cocktail depuis une envie en langage naturel.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Pourquoi GenAI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les filtres echouent sur « frais, fruite, touche tropicale ».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Comprendre + produire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semantique (retrieval) ET generation (recette).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Conformite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thematique alternative validee par l'Annexe I du sujet.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0"/>
            <a:ext cx="548640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3AED"/>
                </a:solidFill>
                <a:latin typeface="Calibri"/>
              </a:rP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47488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Questionnaire -&gt; SBERT -&gt; cosinus -&gt; guardrail 0.35 -&gt; cache -&gt; Gemini (RAG)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1928" y="2227135"/>
            <a:ext cx="5449824" cy="30895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apero-speakeasy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54567"/>
            <a:ext cx="5394960" cy="30346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806440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Interface Speakeasy de L'IA Pero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C3AED"/>
                </a:solidFill>
                <a:latin typeface="Calibri"/>
              </a:rPr>
              <a:t>PROJET 3  -  L'IA PERO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Solution &amp;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1847088" cy="34747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C5.2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Solution GenAI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170432"/>
            <a:ext cx="2971800" cy="438912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DEMO LIVE  -  90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548640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SBERT all-MiniLM-L6-v2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local, gratuit, 384 dims, suffisant pour des phrases courtes.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Gemini free-tier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generation uniquement, bornee par le contexte RAG.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Cache MD5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1 appel par generation -&gt; conforme a la contrainte free-tier.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Guardrail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similarite &lt; 0.35 -&gt; refus des requetes hors-domaine.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64608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Scenario : « quelque chose de frais et fruite » -&gt; Top-5 + radar ; « repare mon velo » -&gt; refus guardrail.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1928" y="2067115"/>
            <a:ext cx="5449824" cy="30895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apero-speakeasy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94547"/>
            <a:ext cx="5394960" cy="3034665"/>
          </a:xfrm>
          <a:prstGeom prst="rect">
            <a:avLst/>
          </a:prstGeom>
        </p:spPr>
      </p:pic>
      <p:sp>
        <p:nvSpPr>
          <p:cNvPr id="12" name="Rounded Rectangle 11">
            <a:hlinkClick r:id="rId3"/>
          </p:cNvPr>
          <p:cNvSpPr/>
          <p:nvPr/>
        </p:nvSpPr>
        <p:spPr>
          <a:xfrm>
            <a:off x="6309360" y="5650992"/>
            <a:ext cx="5394960" cy="475488"/>
          </a:xfrm>
          <a:prstGeom prst="roundRect">
            <a:avLst>
              <a:gd name="adj" fmla="val 2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Ouvrir le repo  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C3AED"/>
                </a:solidFill>
                <a:latin typeface="Calibri"/>
              </a:rPr>
              <a:t>PROJET 3  -  L'IA PERO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Evaluation &amp; risques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2231136" cy="34747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C5.3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Evaluation qualite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5778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Guardrail teste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seuil 0.35 sur des jeux de requetes hors-domaine.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Tableau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requete -&gt; attendu -&gt; score de similarite -&gt; decision.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Ajustements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seuil, Top-N, temperature Gemini, structure du prompt RAG.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Objectif tenu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reponse &lt; 3 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736592"/>
            <a:ext cx="557784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457200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91C1C"/>
                </a:solidFill>
                <a:latin typeface="Calibri"/>
              </a:rPr>
              <a:t>Risques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Hallucination (mitigee RAG+cache)  -  dependance API (fallback+cache)  -  biais dataset  -  usage responsable de l'alcool.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2295715"/>
            <a:ext cx="5449824" cy="30895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apero-speakeasy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23147"/>
            <a:ext cx="5394960" cy="30346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5943600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Scores de similarite + decision du guardrail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Synthese : competences -&gt; preuves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Schema etoile PG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371600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371600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463040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792224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Cassandra query-first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1371600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0216" y="1371600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1463040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C1.3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1792224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Medaillon Parquet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1371600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371600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1463040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C1.4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1792224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Resilience testee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340864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340864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432304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C2.1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761488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API JWT + quotas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2340864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01568" y="2340864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2432304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C2.2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2761488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Kafka + micro-batch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0216" y="2340864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0216" y="2340864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2432304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C2.3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2761488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Polars multi-sources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98864" y="2340864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98864" y="2340864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1744" y="2432304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C2.4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2761488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Metriques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310128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3310128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401568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C3.1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3730752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Prep fit-train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1568" y="3310128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01568" y="3310128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401568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C3.2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4448" y="3730752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Dashboard Streamlit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0216" y="3310128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0216" y="3310128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3096" y="3401568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C3.3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83096" y="3730752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EDA correlations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98864" y="3310128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98864" y="3310128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81744" y="3401568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C4.1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81744" y="3730752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Strategie predictive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279392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279392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4370831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C4.2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4700016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4 modeles testes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01568" y="4279392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01568" y="4279392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84448" y="4370831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C4.3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84448" y="4700016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Eval + CO2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0216" y="4279392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0216" y="4279392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83096" y="4370831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C5.1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83096" y="4700016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Cas d'usage NL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98864" y="4279392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198864" y="4279392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81744" y="4370831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C5.2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81744" y="4700016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SBERT + RAG Gemini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5248656"/>
            <a:ext cx="278892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02920" y="5248656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5340096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C5.3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5669280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Guardrail 0.35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63276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59669"/>
                </a:solidFill>
                <a:latin typeface="Calibri"/>
              </a:rPr>
              <a:t>17 competences C1.1 -&gt; C5.3 couvertes, chacune avec une preuve dans le code.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Limites &amp; ameliorations transverses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201400" cy="85953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27048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Haute disponibilite reelle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1527048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Passer du mono-noeud a un cluster 3 noeuds (PG + Cassandra).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68296"/>
            <a:ext cx="11201400" cy="85953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68296"/>
            <a:ext cx="73152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78024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Dimension temporelle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478024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LSTM sur sequences capteurs pour la maintenance.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19272"/>
            <a:ext cx="11201400" cy="85953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73152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9000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Base vectorielle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429000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pgvector / FAISS au lieu d'une matrice en memoire pour L'IA Pero.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70248"/>
            <a:ext cx="11201400" cy="85953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70248"/>
            <a:ext cx="73152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379976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Monitoring &amp; derive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4379976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Detection de drift + reentrainement automatise.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21224"/>
            <a:ext cx="11201400" cy="85953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221224"/>
            <a:ext cx="73152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330952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CI/CD complet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5330952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Pipeline GitHub Actions (tests + build) sur les 3 repos.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9224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Adam Beloucif  &amp;  Emilien Morice  ·  RNCP 40875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3796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Conclusion &amp; apprentissages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17320"/>
            <a:ext cx="411480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515600" cy="2423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93C5FD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Brancher tests et metriques des le jour 1, pas en consolidation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93C5FD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Justifier chaque choix technique par un besoin metier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93C5FD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Documenter les limites = posture professionnelle, pas un aveu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93C5FD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Une chaine complete : data engineering -&gt; data science -&gt; GenAI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15968"/>
            <a:ext cx="10058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3C5FD"/>
                </a:solidFill>
                <a:latin typeface="Calibri"/>
              </a:rPr>
              <a:t>Les 3 projets en un clic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868680" y="4736592"/>
            <a:ext cx="3520440" cy="6217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D4ED8"/>
                </a:solidFill>
                <a:latin typeface="Calibri"/>
              </a:rPr>
              <a:t>Urban Data Explorer  -&gt;</a:t>
            </a:r>
          </a:p>
        </p:txBody>
      </p:sp>
      <p:sp>
        <p:nvSpPr>
          <p:cNvPr id="8" name="Rounded Rectangle 7">
            <a:hlinkClick r:id="rId3"/>
          </p:cNvPr>
          <p:cNvSpPr/>
          <p:nvPr/>
        </p:nvSpPr>
        <p:spPr>
          <a:xfrm>
            <a:off x="4526280" y="4736592"/>
            <a:ext cx="3520440" cy="6217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047857"/>
                </a:solidFill>
                <a:latin typeface="Calibri"/>
              </a:rPr>
              <a:t>Maintenance Predictive  -&gt;</a:t>
            </a:r>
          </a:p>
        </p:txBody>
      </p:sp>
      <p:sp>
        <p:nvSpPr>
          <p:cNvPr id="9" name="Rounded Rectangle 8">
            <a:hlinkClick r:id="rId4"/>
          </p:cNvPr>
          <p:cNvSpPr/>
          <p:nvPr/>
        </p:nvSpPr>
        <p:spPr>
          <a:xfrm>
            <a:off x="8183879" y="4736592"/>
            <a:ext cx="3520440" cy="6217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7C3AED"/>
                </a:solidFill>
                <a:latin typeface="Calibri"/>
              </a:rPr>
              <a:t>L'IA Pero  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79008"/>
            <a:ext cx="105156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Merci de votre attention  -  Adam Beloucif &amp; Emilien Morice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Calibri"/>
              </a:rPr>
              <a:t>ANNEXE  -  BACKUP DEMO (HORS DECOMPTE)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Urban Data Explorer  -  captures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2516695"/>
            <a:ext cx="3544824" cy="223608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de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44127"/>
            <a:ext cx="3489960" cy="21812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31208" y="2516695"/>
            <a:ext cx="3544824" cy="223608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de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40" y="2544127"/>
            <a:ext cx="3489960" cy="21812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86928" y="2516695"/>
            <a:ext cx="3544824" cy="223608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de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360" y="2544127"/>
            <a:ext cx="3489960" cy="2181225"/>
          </a:xfrm>
          <a:prstGeom prst="rect">
            <a:avLst/>
          </a:prstGeom>
        </p:spPr>
      </p:pic>
      <p:sp>
        <p:nvSpPr>
          <p:cNvPr id="12" name="Rounded Rectangle 11">
            <a:hlinkClick r:id="rId4"/>
          </p:cNvPr>
          <p:cNvSpPr/>
          <p:nvPr/>
        </p:nvSpPr>
        <p:spPr>
          <a:xfrm>
            <a:off x="4892040" y="6126480"/>
            <a:ext cx="2468880" cy="438912"/>
          </a:xfrm>
          <a:prstGeom prst="roundRect">
            <a:avLst>
              <a:gd name="adj" fmla="val 2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Ouvrir le repo  -&gt;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47857"/>
                </a:solidFill>
                <a:latin typeface="Calibri"/>
              </a:rPr>
              <a:t>ANNEXE  -  BACKUP DEMO (HORS DECOMPTE)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Maintenance  -  captures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2625756"/>
            <a:ext cx="3544824" cy="201796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intenance-dashboard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53188"/>
            <a:ext cx="3489960" cy="19631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31208" y="2734818"/>
            <a:ext cx="3544824" cy="17998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nthly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40" y="2762249"/>
            <a:ext cx="3489960" cy="17449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86928" y="2734818"/>
            <a:ext cx="3544824" cy="17998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quality_complete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360" y="2762249"/>
            <a:ext cx="3489960" cy="1744980"/>
          </a:xfrm>
          <a:prstGeom prst="rect">
            <a:avLst/>
          </a:prstGeom>
        </p:spPr>
      </p:pic>
      <p:sp>
        <p:nvSpPr>
          <p:cNvPr id="12" name="Rounded Rectangle 11">
            <a:hlinkClick r:id="rId5"/>
          </p:cNvPr>
          <p:cNvSpPr/>
          <p:nvPr/>
        </p:nvSpPr>
        <p:spPr>
          <a:xfrm>
            <a:off x="4892040" y="6126480"/>
            <a:ext cx="2468880" cy="438912"/>
          </a:xfrm>
          <a:prstGeom prst="roundRect">
            <a:avLst>
              <a:gd name="adj" fmla="val 28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Ouvrir le repo  -&gt;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C3AED"/>
                </a:solidFill>
                <a:latin typeface="Calibri"/>
              </a:rPr>
              <a:t>ANNEXE  -  BACKUP DEMO (HORS DECOMPTE)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L'IA Pero  -  captures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2083546"/>
            <a:ext cx="5472683" cy="310238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apero-speakeasy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10978"/>
            <a:ext cx="5417820" cy="30475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59068" y="2083546"/>
            <a:ext cx="5472683" cy="310238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apero-speakeasy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110978"/>
            <a:ext cx="5417820" cy="3047523"/>
          </a:xfrm>
          <a:prstGeom prst="rect">
            <a:avLst/>
          </a:prstGeom>
        </p:spPr>
      </p:pic>
      <p:sp>
        <p:nvSpPr>
          <p:cNvPr id="10" name="Rounded Rectangle 9">
            <a:hlinkClick r:id="rId3"/>
          </p:cNvPr>
          <p:cNvSpPr/>
          <p:nvPr/>
        </p:nvSpPr>
        <p:spPr>
          <a:xfrm>
            <a:off x="4892040" y="6126480"/>
            <a:ext cx="2468880" cy="438912"/>
          </a:xfrm>
          <a:prstGeom prst="roundRect">
            <a:avLst>
              <a:gd name="adj" fmla="val 2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Ouvrir le repo  -&gt;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